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51" r:id="rId1"/>
  </p:sldMasterIdLst>
  <p:notesMasterIdLst>
    <p:notesMasterId r:id="rId18"/>
  </p:notesMasterIdLst>
  <p:sldIdLst>
    <p:sldId id="256" r:id="rId2"/>
    <p:sldId id="272" r:id="rId3"/>
    <p:sldId id="271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</p:sldIdLst>
  <p:sldSz cx="9144000" cy="5143500" type="screen16x9"/>
  <p:notesSz cx="51435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854" autoAdjust="0"/>
    <p:restoredTop sz="94610"/>
  </p:normalViewPr>
  <p:slideViewPr>
    <p:cSldViewPr snapToGrid="0" snapToObjects="1">
      <p:cViewPr varScale="1">
        <p:scale>
          <a:sx n="92" d="100"/>
          <a:sy n="92" d="100"/>
        </p:scale>
        <p:origin x="376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238263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1A963F-A7B8-E9D7-5868-43D550854EF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25104DB-5E47-A4AB-1FC5-545B529D729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A221CD8-F3BB-7C9E-005B-E91452F45E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65D3C8-C09A-499B-9407-1B57987B4750}" type="datetimeFigureOut">
              <a:rPr lang="en-US" smtClean="0"/>
              <a:t>2/3/2026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88D8A9-4125-15D9-8CCA-7EBEE67637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BC174C-4AD8-8AF2-6773-6333344D56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02C3E2-CA08-4EA3-8720-6BC592FEBF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9298188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1DFE7F-03CF-B323-A6EC-0C735EFF6A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760CB3-A378-B35C-0804-A5FF1A2C02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F7302C2-908A-E000-7A3D-BE43A37CCC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F3ED35-1DFE-4C8E-AB7B-30ADA7D40FAC}" type="datetimeFigureOut">
              <a:rPr lang="en-US" smtClean="0"/>
              <a:t>2/3/2026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3E66AE-ACA1-F4A6-F2A3-82D55EBF0D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A42584-AF0D-FAE4-D2EC-84D899ACBE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31CC9-6952-428F-979E-C773B8004C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92191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40D30A-71A3-6F7F-6058-724AFFC76D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1282304"/>
            <a:ext cx="7886700" cy="2139553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8B91715-3488-ABCD-31B3-96971C82435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8" y="3442098"/>
            <a:ext cx="7886700" cy="1125140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0456C9-14E6-EBCA-ED0A-170EB7280F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65D3C8-C09A-499B-9407-1B57987B4750}" type="datetimeFigureOut">
              <a:rPr lang="en-US" smtClean="0"/>
              <a:t>2/3/2026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63958EC-7274-35E1-2412-9263C6541B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B5130F-1F9F-3DF2-875B-3B5C39DBAD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02C3E2-CA08-4EA3-8720-6BC592FEBF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5502331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A10F3B-60DC-FAE3-BD9D-7D5EF9CD31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9DAAF8-7B98-F17D-9C6F-D7F0228BD5E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650" y="1369219"/>
            <a:ext cx="3886200" cy="32635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6B64479-E58A-9740-2577-2514DAD0E8D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29150" y="1369219"/>
            <a:ext cx="3886200" cy="32635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8212835-8701-6B48-814B-033C7BBA40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65D3C8-C09A-499B-9407-1B57987B4750}" type="datetimeFigureOut">
              <a:rPr lang="en-US" smtClean="0"/>
              <a:t>2/3/2026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B2D1DE1-69C0-BEC5-B66C-45BEDF06AA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B02287D-54AC-A18A-8A64-8313B3B2EC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02C3E2-CA08-4EA3-8720-6BC592FEBF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5875638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DADF1D-B808-090B-3E3E-1A9622FA3D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273844"/>
            <a:ext cx="7886700" cy="99417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4352885-6B99-2F51-C928-A1163A91DED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9842" y="1260872"/>
            <a:ext cx="3868340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5F992A7-467A-A23E-5AB4-7886209AA30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9842" y="1878806"/>
            <a:ext cx="3868340" cy="276344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97D1A60-E04C-1D47-E97A-3B0FB7AA854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629150" y="1260872"/>
            <a:ext cx="3887391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C9B184D-5ABD-536E-8B01-3C7F9ED59EB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29150" y="1878806"/>
            <a:ext cx="3887391" cy="276344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498AE1C-7DCE-CE58-29C5-B6474A7D57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65D3C8-C09A-499B-9407-1B57987B4750}" type="datetimeFigureOut">
              <a:rPr lang="en-US" smtClean="0"/>
              <a:t>2/3/2026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2A45B4F-C493-3C2E-E0F5-FEF8D77E08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B75133F-395C-3AA1-6F9F-39B2D230B5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02C3E2-CA08-4EA3-8720-6BC592FEBF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7068494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942946-3813-7605-1CBA-4BD82D7191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F9A6B5D-016A-FDC2-5278-A8F49C3B27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65D3C8-C09A-499B-9407-1B57987B4750}" type="datetimeFigureOut">
              <a:rPr lang="en-US" smtClean="0"/>
              <a:t>2/3/2026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97F2829-3B8C-2787-283A-A9E045E159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47D682D-0CC3-D266-75E4-E751EC2E64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02C3E2-CA08-4EA3-8720-6BC592FEBF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9077326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D16FE28-4194-1478-69D7-8BEC7A87CF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65D3C8-C09A-499B-9407-1B57987B4750}" type="datetimeFigureOut">
              <a:rPr lang="en-US" smtClean="0"/>
              <a:t>2/3/2026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A2E7EEE-3F80-E0D1-812B-DDF22632D0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C9B6A5-8694-14F4-2A2F-D7617DD300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02C3E2-CA08-4EA3-8720-6BC592FEBF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5972840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921BD5-2D6F-C407-F5A8-83679691B5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24A2FF-7F24-374C-9F07-CD01FD9A02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7391" y="740569"/>
            <a:ext cx="4629150" cy="3655219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BE2C74D-E605-FAE3-4CEC-2D32390E41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50F438F-5470-B8FA-0D05-3DF3C0B208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65D3C8-C09A-499B-9407-1B57987B4750}" type="datetimeFigureOut">
              <a:rPr lang="en-US" smtClean="0"/>
              <a:t>2/3/2026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5933B2A-2CAB-0429-DA85-A8F5FEEED4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A44F9DC-12D3-6C08-CF17-A5CC8D93B8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02C3E2-CA08-4EA3-8720-6BC592FEBF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8774376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8772E8-8550-2D74-3ABC-992FA09293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5A7E7B2-A3B7-E3EF-C151-CFE48CAAAB1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887391" y="740569"/>
            <a:ext cx="4629150" cy="3655219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B515BEC-DF23-8B58-7E5D-21DCC1B5F2D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B5CC0FF-3CBE-B2C3-E8A4-94C8DFB9C1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65D3C8-C09A-499B-9407-1B57987B4750}" type="datetimeFigureOut">
              <a:rPr lang="en-US" smtClean="0"/>
              <a:t>2/3/2026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638A20F-B773-4092-18E6-6749A755EB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CA266AD-B5C5-871F-2568-586B9913CC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02C3E2-CA08-4EA3-8720-6BC592FEBF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0445567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0F3E17-B71D-1A24-888D-38E624E901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0BED1AB-BD4F-F4BB-4C73-65E62A4F691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4E2FA2-0803-7F59-AC09-C216C631FB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65D3C8-C09A-499B-9407-1B57987B4750}" type="datetimeFigureOut">
              <a:rPr lang="en-US" smtClean="0"/>
              <a:t>2/3/2026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BB8FBC-83E1-DDEB-6830-F956E3ADBB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E97EA3-2D6D-CFF5-509B-3E19AE7EFD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02C3E2-CA08-4EA3-8720-6BC592FEBF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8841323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B9505B4-6AD9-BE16-2AA8-50265902AFF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6543675" y="273844"/>
            <a:ext cx="1971675" cy="4358879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BE5DDE7-03B2-E01B-057B-D6B4F80AC29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28650" y="273844"/>
            <a:ext cx="5800725" cy="435887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B8CE3D-B6E1-775D-2E42-1B0C004E5D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65D3C8-C09A-499B-9407-1B57987B4750}" type="datetimeFigureOut">
              <a:rPr lang="en-US" smtClean="0"/>
              <a:t>2/3/2026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B8D237-AAAB-09EB-32F7-0B863BFACA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5B6547-6797-FCB2-2175-7BA3DFAFD0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02C3E2-CA08-4EA3-8720-6BC592FEBF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8030809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979774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D34E476-3E60-CC69-E148-38A3FD8CBF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CC60AF-81FD-9F13-D586-D8AA5FDCDCC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8CB5DD6-533B-2099-2F0A-57A88283837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E65D3C8-C09A-499B-9407-1B57987B4750}" type="datetimeFigureOut">
              <a:rPr lang="en-US" smtClean="0"/>
              <a:t>2/3/2026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898D23-623C-3A33-BF12-8AE02624BD8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7BD6DA6-E2CE-6BE6-564F-2D4A330B3BD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402C3E2-CA08-4EA3-8720-6BC592FEBF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76123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2" r:id="rId1"/>
    <p:sldLayoutId id="2147483653" r:id="rId2"/>
    <p:sldLayoutId id="2147483654" r:id="rId3"/>
    <p:sldLayoutId id="2147483655" r:id="rId4"/>
    <p:sldLayoutId id="2147483656" r:id="rId5"/>
    <p:sldLayoutId id="2147483657" r:id="rId6"/>
    <p:sldLayoutId id="2147483658" r:id="rId7"/>
    <p:sldLayoutId id="2147483659" r:id="rId8"/>
    <p:sldLayoutId id="2147483660" r:id="rId9"/>
    <p:sldLayoutId id="2147483661" r:id="rId10"/>
    <p:sldLayoutId id="2147483662" r:id="rId11"/>
    <p:sldLayoutId id="2147483663" r:id="rId12"/>
  </p:sldLayoutIdLst>
  <p:hf sldNum="0"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65A8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3642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4800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Library Usage Data Warehouse Project </a:t>
            </a:r>
            <a:endParaRPr lang="en-US" sz="4800" dirty="0">
              <a:solidFill>
                <a:schemeClr val="accent1">
                  <a:lumMod val="20000"/>
                  <a:lumOff val="8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213360" y="3505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CADCFC"/>
                </a:solidFill>
                <a:latin typeface="Times New Roman" panose="02020603050405020304" pitchFamily="18" charset="0"/>
                <a:ea typeface="Arial Black" pitchFamily="34" charset="-122"/>
                <a:cs typeface="Times New Roman" panose="02020603050405020304" pitchFamily="18" charset="0"/>
              </a:rPr>
              <a:t>Data Warehouse Project</a:t>
            </a:r>
            <a:endParaRPr lang="en-US" sz="4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3657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i="1" dirty="0">
                <a:solidFill>
                  <a:srgbClr val="FFFFFF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Integrating Three Library Systems into One Analytics Platform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62179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Group 1 | ITLDM801 | January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E95985-F3E0-BC11-A536-B2914C1D5D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GROUP 1 MEMBERS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5E2629-E183-D7EF-F5EC-0BCC452652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050D6E6D-F876-F6D2-6D6E-8761DB9E8D8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08556868"/>
              </p:ext>
            </p:extLst>
          </p:nvPr>
        </p:nvGraphicFramePr>
        <p:xfrm>
          <a:off x="1302327" y="1742787"/>
          <a:ext cx="6096000" cy="14097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0">
                  <a:extLst>
                    <a:ext uri="{9D8B030D-6E8A-4147-A177-3AD203B41FA5}">
                      <a16:colId xmlns:a16="http://schemas.microsoft.com/office/drawing/2014/main" val="660847020"/>
                    </a:ext>
                  </a:extLst>
                </a:gridCol>
                <a:gridCol w="3048000">
                  <a:extLst>
                    <a:ext uri="{9D8B030D-6E8A-4147-A177-3AD203B41FA5}">
                      <a16:colId xmlns:a16="http://schemas.microsoft.com/office/drawing/2014/main" val="295399750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US" dirty="0"/>
                        <a:t>NAMES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REGNO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654981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IRIMASO Gertrude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25RP19175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299300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NZAYISENGA Cyprien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25RP20156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423758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AKIMANA Aline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25RP20978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5162171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144108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C1EA2A-B47A-7406-06ED-1AC5818A09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9524" y="53340"/>
            <a:ext cx="8846050" cy="5001546"/>
          </a:xfrm>
        </p:spPr>
        <p:txBody>
          <a:bodyPr/>
          <a:lstStyle/>
          <a:p>
            <a:pPr marL="0" indent="0">
              <a:buNone/>
            </a:pPr>
            <a:r>
              <a:rPr lang="en-US" sz="3600" b="1" dirty="0">
                <a:solidFill>
                  <a:srgbClr val="065A82"/>
                </a:solidFill>
                <a:latin typeface="Times New Roman" panose="02020603050405020304" pitchFamily="18" charset="0"/>
                <a:ea typeface="Arial Black" pitchFamily="34" charset="-122"/>
                <a:cs typeface="Times New Roman" panose="02020603050405020304" pitchFamily="18" charset="0"/>
              </a:rPr>
              <a:t>Presentation Agenda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 0">
            <a:extLst>
              <a:ext uri="{FF2B5EF4-FFF2-40B4-BE49-F238E27FC236}">
                <a16:creationId xmlns:a16="http://schemas.microsoft.com/office/drawing/2014/main" id="{ACE05090-1A97-BDB2-D2B4-863F68B59602}"/>
              </a:ext>
            </a:extLst>
          </p:cNvPr>
          <p:cNvSpPr/>
          <p:nvPr/>
        </p:nvSpPr>
        <p:spPr>
          <a:xfrm>
            <a:off x="342900" y="558658"/>
            <a:ext cx="6172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 2">
            <a:extLst>
              <a:ext uri="{FF2B5EF4-FFF2-40B4-BE49-F238E27FC236}">
                <a16:creationId xmlns:a16="http://schemas.microsoft.com/office/drawing/2014/main" id="{34EFAC3E-6475-C6F3-7D0B-0D472CE42D11}"/>
              </a:ext>
            </a:extLst>
          </p:cNvPr>
          <p:cNvSpPr/>
          <p:nvPr/>
        </p:nvSpPr>
        <p:spPr>
          <a:xfrm>
            <a:off x="548640" y="1028700"/>
            <a:ext cx="414563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 3">
            <a:extLst>
              <a:ext uri="{FF2B5EF4-FFF2-40B4-BE49-F238E27FC236}">
                <a16:creationId xmlns:a16="http://schemas.microsoft.com/office/drawing/2014/main" id="{C386034E-15DE-163E-47D0-B99BF3DAB0F1}"/>
              </a:ext>
            </a:extLst>
          </p:cNvPr>
          <p:cNvSpPr/>
          <p:nvPr/>
        </p:nvSpPr>
        <p:spPr>
          <a:xfrm>
            <a:off x="1028700" y="1028700"/>
            <a:ext cx="2743200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b="1" dirty="0">
                <a:solidFill>
                  <a:srgbClr val="212121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1. Problem Statement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8EBD8500-A275-49E5-6D23-BC34B34311CF}"/>
              </a:ext>
            </a:extLst>
          </p:cNvPr>
          <p:cNvSpPr/>
          <p:nvPr/>
        </p:nvSpPr>
        <p:spPr>
          <a:xfrm>
            <a:off x="1028700" y="1200150"/>
            <a:ext cx="2743200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000" dirty="0">
                <a:solidFill>
                  <a:srgbClr val="666666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Current challenges in library operations</a:t>
            </a:r>
            <a:endParaRPr 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 6">
            <a:extLst>
              <a:ext uri="{FF2B5EF4-FFF2-40B4-BE49-F238E27FC236}">
                <a16:creationId xmlns:a16="http://schemas.microsoft.com/office/drawing/2014/main" id="{4EC8CE0B-200A-8948-0D3A-82AF7A758C77}"/>
              </a:ext>
            </a:extLst>
          </p:cNvPr>
          <p:cNvSpPr/>
          <p:nvPr/>
        </p:nvSpPr>
        <p:spPr>
          <a:xfrm>
            <a:off x="548640" y="1474470"/>
            <a:ext cx="414563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400" b="1" dirty="0">
                <a:solidFill>
                  <a:srgbClr val="FFFFFF"/>
                </a:solidFill>
                <a:latin typeface="Times New Roman" panose="02020603050405020304" pitchFamily="18" charset="0"/>
                <a:ea typeface="Arial Black" pitchFamily="34" charset="-122"/>
                <a:cs typeface="Times New Roman" panose="02020603050405020304" pitchFamily="18" charset="0"/>
              </a:rPr>
              <a:t>0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Text 7">
            <a:extLst>
              <a:ext uri="{FF2B5EF4-FFF2-40B4-BE49-F238E27FC236}">
                <a16:creationId xmlns:a16="http://schemas.microsoft.com/office/drawing/2014/main" id="{E803C79E-63B4-7941-B184-8DCBA8187C42}"/>
              </a:ext>
            </a:extLst>
          </p:cNvPr>
          <p:cNvSpPr/>
          <p:nvPr/>
        </p:nvSpPr>
        <p:spPr>
          <a:xfrm>
            <a:off x="1028700" y="1474470"/>
            <a:ext cx="2743200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b="1" dirty="0">
                <a:solidFill>
                  <a:srgbClr val="212121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2. Project Objectives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 8">
            <a:extLst>
              <a:ext uri="{FF2B5EF4-FFF2-40B4-BE49-F238E27FC236}">
                <a16:creationId xmlns:a16="http://schemas.microsoft.com/office/drawing/2014/main" id="{4B3B960E-DC0E-42C0-CFAD-63A96A315B5B}"/>
              </a:ext>
            </a:extLst>
          </p:cNvPr>
          <p:cNvSpPr/>
          <p:nvPr/>
        </p:nvSpPr>
        <p:spPr>
          <a:xfrm>
            <a:off x="1028700" y="1645920"/>
            <a:ext cx="2743200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000" dirty="0">
                <a:solidFill>
                  <a:srgbClr val="666666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Goals and expected outcomes</a:t>
            </a:r>
            <a:endParaRPr 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Text 10">
            <a:extLst>
              <a:ext uri="{FF2B5EF4-FFF2-40B4-BE49-F238E27FC236}">
                <a16:creationId xmlns:a16="http://schemas.microsoft.com/office/drawing/2014/main" id="{0BA9789D-496D-049E-CA5B-500EC15C491C}"/>
              </a:ext>
            </a:extLst>
          </p:cNvPr>
          <p:cNvSpPr/>
          <p:nvPr/>
        </p:nvSpPr>
        <p:spPr>
          <a:xfrm>
            <a:off x="483143" y="1920240"/>
            <a:ext cx="545557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400" b="1" dirty="0">
                <a:solidFill>
                  <a:srgbClr val="FFFFFF"/>
                </a:solidFill>
                <a:latin typeface="Times New Roman" panose="02020603050405020304" pitchFamily="18" charset="0"/>
                <a:ea typeface="Arial Black" pitchFamily="34" charset="-122"/>
                <a:cs typeface="Times New Roman" panose="02020603050405020304" pitchFamily="18" charset="0"/>
              </a:rPr>
              <a:t>0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Text 11">
            <a:extLst>
              <a:ext uri="{FF2B5EF4-FFF2-40B4-BE49-F238E27FC236}">
                <a16:creationId xmlns:a16="http://schemas.microsoft.com/office/drawing/2014/main" id="{7C550B8E-3BA5-0535-FBD1-FC8A95E2EA30}"/>
              </a:ext>
            </a:extLst>
          </p:cNvPr>
          <p:cNvSpPr/>
          <p:nvPr/>
        </p:nvSpPr>
        <p:spPr>
          <a:xfrm>
            <a:off x="1028700" y="1920240"/>
            <a:ext cx="2743200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b="1" dirty="0">
                <a:solidFill>
                  <a:srgbClr val="212121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3. System Architecture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Text 12">
            <a:extLst>
              <a:ext uri="{FF2B5EF4-FFF2-40B4-BE49-F238E27FC236}">
                <a16:creationId xmlns:a16="http://schemas.microsoft.com/office/drawing/2014/main" id="{677F6704-9155-98EC-0595-F64FDB70A35C}"/>
              </a:ext>
            </a:extLst>
          </p:cNvPr>
          <p:cNvSpPr/>
          <p:nvPr/>
        </p:nvSpPr>
        <p:spPr>
          <a:xfrm>
            <a:off x="1028700" y="2091690"/>
            <a:ext cx="2743200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000" dirty="0">
                <a:solidFill>
                  <a:srgbClr val="666666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Technical design and components</a:t>
            </a:r>
            <a:endParaRPr 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Text 14">
            <a:extLst>
              <a:ext uri="{FF2B5EF4-FFF2-40B4-BE49-F238E27FC236}">
                <a16:creationId xmlns:a16="http://schemas.microsoft.com/office/drawing/2014/main" id="{091D8B25-3AD4-99E1-D573-B1DDDA722DAC}"/>
              </a:ext>
            </a:extLst>
          </p:cNvPr>
          <p:cNvSpPr/>
          <p:nvPr/>
        </p:nvSpPr>
        <p:spPr>
          <a:xfrm>
            <a:off x="548640" y="2366010"/>
            <a:ext cx="342900" cy="34289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400" b="1" dirty="0">
                <a:solidFill>
                  <a:srgbClr val="FFFFFF"/>
                </a:solidFill>
                <a:latin typeface="Times New Roman" panose="02020603050405020304" pitchFamily="18" charset="0"/>
                <a:ea typeface="Arial Black" pitchFamily="34" charset="-122"/>
                <a:cs typeface="Times New Roman" panose="02020603050405020304" pitchFamily="18" charset="0"/>
              </a:rPr>
              <a:t>04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Text 15">
            <a:extLst>
              <a:ext uri="{FF2B5EF4-FFF2-40B4-BE49-F238E27FC236}">
                <a16:creationId xmlns:a16="http://schemas.microsoft.com/office/drawing/2014/main" id="{7B788E3D-E5FE-B49D-9162-63D73A2BC80F}"/>
              </a:ext>
            </a:extLst>
          </p:cNvPr>
          <p:cNvSpPr/>
          <p:nvPr/>
        </p:nvSpPr>
        <p:spPr>
          <a:xfrm>
            <a:off x="1028700" y="2366010"/>
            <a:ext cx="2743200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b="1" dirty="0">
                <a:solidFill>
                  <a:srgbClr val="212121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4. Data Model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Text 16">
            <a:extLst>
              <a:ext uri="{FF2B5EF4-FFF2-40B4-BE49-F238E27FC236}">
                <a16:creationId xmlns:a16="http://schemas.microsoft.com/office/drawing/2014/main" id="{FA5EFA2D-A222-4ADA-FD63-C41F73D9BA22}"/>
              </a:ext>
            </a:extLst>
          </p:cNvPr>
          <p:cNvSpPr/>
          <p:nvPr/>
        </p:nvSpPr>
        <p:spPr>
          <a:xfrm>
            <a:off x="1028700" y="2537460"/>
            <a:ext cx="2743200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000" dirty="0">
                <a:solidFill>
                  <a:srgbClr val="666666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Star schema and dimensional modeling</a:t>
            </a:r>
            <a:endParaRPr 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" name="Text 18">
            <a:extLst>
              <a:ext uri="{FF2B5EF4-FFF2-40B4-BE49-F238E27FC236}">
                <a16:creationId xmlns:a16="http://schemas.microsoft.com/office/drawing/2014/main" id="{2FC1FE5B-5B94-3F93-78CD-FBDDDE86E3D6}"/>
              </a:ext>
            </a:extLst>
          </p:cNvPr>
          <p:cNvSpPr/>
          <p:nvPr/>
        </p:nvSpPr>
        <p:spPr>
          <a:xfrm>
            <a:off x="548640" y="2811780"/>
            <a:ext cx="414563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400" b="1" dirty="0">
                <a:solidFill>
                  <a:srgbClr val="FFFFFF"/>
                </a:solidFill>
                <a:latin typeface="Times New Roman" panose="02020603050405020304" pitchFamily="18" charset="0"/>
                <a:ea typeface="Arial Black" pitchFamily="34" charset="-122"/>
                <a:cs typeface="Times New Roman" panose="02020603050405020304" pitchFamily="18" charset="0"/>
              </a:rPr>
              <a:t>05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" name="Text 19">
            <a:extLst>
              <a:ext uri="{FF2B5EF4-FFF2-40B4-BE49-F238E27FC236}">
                <a16:creationId xmlns:a16="http://schemas.microsoft.com/office/drawing/2014/main" id="{F538C5A9-6EA0-7B9D-6E4B-A48DD411D383}"/>
              </a:ext>
            </a:extLst>
          </p:cNvPr>
          <p:cNvSpPr/>
          <p:nvPr/>
        </p:nvSpPr>
        <p:spPr>
          <a:xfrm>
            <a:off x="1028700" y="2811780"/>
            <a:ext cx="2743200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b="1" dirty="0">
                <a:solidFill>
                  <a:srgbClr val="212121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5. ETL Pipeline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" name="Text 20">
            <a:extLst>
              <a:ext uri="{FF2B5EF4-FFF2-40B4-BE49-F238E27FC236}">
                <a16:creationId xmlns:a16="http://schemas.microsoft.com/office/drawing/2014/main" id="{CE200099-E085-2855-EB9A-0D06FD351BD8}"/>
              </a:ext>
            </a:extLst>
          </p:cNvPr>
          <p:cNvSpPr/>
          <p:nvPr/>
        </p:nvSpPr>
        <p:spPr>
          <a:xfrm>
            <a:off x="1028700" y="2983230"/>
            <a:ext cx="2743200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000" dirty="0">
                <a:solidFill>
                  <a:srgbClr val="666666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Data extraction, transformation, and loading</a:t>
            </a:r>
            <a:endParaRPr 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6" name="Text 22">
            <a:extLst>
              <a:ext uri="{FF2B5EF4-FFF2-40B4-BE49-F238E27FC236}">
                <a16:creationId xmlns:a16="http://schemas.microsoft.com/office/drawing/2014/main" id="{DCC23329-8CD4-723D-2FF4-482D7CB9BF93}"/>
              </a:ext>
            </a:extLst>
          </p:cNvPr>
          <p:cNvSpPr/>
          <p:nvPr/>
        </p:nvSpPr>
        <p:spPr>
          <a:xfrm>
            <a:off x="548640" y="3257550"/>
            <a:ext cx="3429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400" b="1" dirty="0">
                <a:solidFill>
                  <a:srgbClr val="FFFFFF"/>
                </a:solidFill>
                <a:latin typeface="Times New Roman" panose="02020603050405020304" pitchFamily="18" charset="0"/>
                <a:ea typeface="Arial Black" pitchFamily="34" charset="-122"/>
                <a:cs typeface="Times New Roman" panose="02020603050405020304" pitchFamily="18" charset="0"/>
              </a:rPr>
              <a:t>06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7" name="Text 23">
            <a:extLst>
              <a:ext uri="{FF2B5EF4-FFF2-40B4-BE49-F238E27FC236}">
                <a16:creationId xmlns:a16="http://schemas.microsoft.com/office/drawing/2014/main" id="{D1F40AE2-CDA1-81A2-7D53-7E349C728981}"/>
              </a:ext>
            </a:extLst>
          </p:cNvPr>
          <p:cNvSpPr/>
          <p:nvPr/>
        </p:nvSpPr>
        <p:spPr>
          <a:xfrm>
            <a:off x="1028700" y="3257550"/>
            <a:ext cx="2743200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b="1" dirty="0">
                <a:solidFill>
                  <a:srgbClr val="212121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6. Analytics &amp; Insights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8" name="Text 24">
            <a:extLst>
              <a:ext uri="{FF2B5EF4-FFF2-40B4-BE49-F238E27FC236}">
                <a16:creationId xmlns:a16="http://schemas.microsoft.com/office/drawing/2014/main" id="{B698F58A-0DB3-89A1-4859-1160583F3C34}"/>
              </a:ext>
            </a:extLst>
          </p:cNvPr>
          <p:cNvSpPr/>
          <p:nvPr/>
        </p:nvSpPr>
        <p:spPr>
          <a:xfrm>
            <a:off x="1028700" y="3429000"/>
            <a:ext cx="2743200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000" dirty="0">
                <a:solidFill>
                  <a:srgbClr val="666666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Business intelligence and reporting</a:t>
            </a:r>
            <a:endParaRPr 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1" name="Text 27">
            <a:extLst>
              <a:ext uri="{FF2B5EF4-FFF2-40B4-BE49-F238E27FC236}">
                <a16:creationId xmlns:a16="http://schemas.microsoft.com/office/drawing/2014/main" id="{492E1647-7B4A-989C-A305-6E379EFC67A8}"/>
              </a:ext>
            </a:extLst>
          </p:cNvPr>
          <p:cNvSpPr/>
          <p:nvPr/>
        </p:nvSpPr>
        <p:spPr>
          <a:xfrm>
            <a:off x="1014186" y="3703320"/>
            <a:ext cx="2743200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b="1" dirty="0">
                <a:solidFill>
                  <a:srgbClr val="212121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7. Security &amp; Governance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2" name="Text 28">
            <a:extLst>
              <a:ext uri="{FF2B5EF4-FFF2-40B4-BE49-F238E27FC236}">
                <a16:creationId xmlns:a16="http://schemas.microsoft.com/office/drawing/2014/main" id="{B638F4AF-7B59-4D84-583F-18EEE8C3D25D}"/>
              </a:ext>
            </a:extLst>
          </p:cNvPr>
          <p:cNvSpPr/>
          <p:nvPr/>
        </p:nvSpPr>
        <p:spPr>
          <a:xfrm>
            <a:off x="1028700" y="3874770"/>
            <a:ext cx="2743200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000" dirty="0">
                <a:solidFill>
                  <a:srgbClr val="666666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Access control and data protection</a:t>
            </a:r>
            <a:endParaRPr 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4" name="Text 30">
            <a:extLst>
              <a:ext uri="{FF2B5EF4-FFF2-40B4-BE49-F238E27FC236}">
                <a16:creationId xmlns:a16="http://schemas.microsoft.com/office/drawing/2014/main" id="{9112DE40-963C-5626-A951-D0D734A8E51D}"/>
              </a:ext>
            </a:extLst>
          </p:cNvPr>
          <p:cNvSpPr/>
          <p:nvPr/>
        </p:nvSpPr>
        <p:spPr>
          <a:xfrm>
            <a:off x="548640" y="4149090"/>
            <a:ext cx="414563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5" name="Text 31">
            <a:extLst>
              <a:ext uri="{FF2B5EF4-FFF2-40B4-BE49-F238E27FC236}">
                <a16:creationId xmlns:a16="http://schemas.microsoft.com/office/drawing/2014/main" id="{44F21454-40A1-1CA8-1303-0283242AB31B}"/>
              </a:ext>
            </a:extLst>
          </p:cNvPr>
          <p:cNvSpPr/>
          <p:nvPr/>
        </p:nvSpPr>
        <p:spPr>
          <a:xfrm>
            <a:off x="1028700" y="4149090"/>
            <a:ext cx="2743200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b="1" dirty="0">
                <a:solidFill>
                  <a:srgbClr val="212121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8. Results &amp; Benefits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6" name="Text 32">
            <a:extLst>
              <a:ext uri="{FF2B5EF4-FFF2-40B4-BE49-F238E27FC236}">
                <a16:creationId xmlns:a16="http://schemas.microsoft.com/office/drawing/2014/main" id="{D9C826C3-BE2C-7860-9D62-3100B79E7718}"/>
              </a:ext>
            </a:extLst>
          </p:cNvPr>
          <p:cNvSpPr/>
          <p:nvPr/>
        </p:nvSpPr>
        <p:spPr>
          <a:xfrm>
            <a:off x="1028700" y="4320540"/>
            <a:ext cx="2743200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000" dirty="0">
                <a:solidFill>
                  <a:srgbClr val="666666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Achievements and future enhancements</a:t>
            </a:r>
            <a:endParaRPr 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0210623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065A8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Problem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 State of Library Systems</a:t>
            </a:r>
            <a:endParaRPr lang="en-US" dirty="0"/>
          </a:p>
        </p:txBody>
      </p:sp>
      <p:sp>
        <p:nvSpPr>
          <p:cNvPr id="4" name="Shape 2"/>
          <p:cNvSpPr/>
          <p:nvPr/>
        </p:nvSpPr>
        <p:spPr>
          <a:xfrm>
            <a:off x="731520" y="1668780"/>
            <a:ext cx="2377440" cy="1645920"/>
          </a:xfrm>
          <a:prstGeom prst="rect">
            <a:avLst/>
          </a:prstGeom>
          <a:solidFill>
            <a:srgbClr val="CADCFC"/>
          </a:solidFill>
          <a:ln w="254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640080" y="180594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Book Lending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221742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MySQL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2577374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Physical book checkouts and returns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383280" y="1654629"/>
            <a:ext cx="2377440" cy="1645920"/>
          </a:xfrm>
          <a:prstGeom prst="rect">
            <a:avLst/>
          </a:prstGeom>
          <a:solidFill>
            <a:srgbClr val="CADCFC"/>
          </a:solidFill>
          <a:ln w="254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3396343" y="1837871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Digital Resources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3370217" y="229743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Excel Files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474720" y="2926080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E-book and journal downloads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008914" y="1707606"/>
            <a:ext cx="2377440" cy="1645920"/>
          </a:xfrm>
          <a:prstGeom prst="rect">
            <a:avLst/>
          </a:prstGeom>
          <a:solidFill>
            <a:srgbClr val="CADCFC"/>
          </a:solidFill>
          <a:ln w="254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6035040" y="1865811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Room Booking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035040" y="2338252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CSV Exports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126480" y="2926080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Study room reservations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70263" y="34290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Pain Points:</a:t>
            </a: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640080" y="381072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Report generation takes 15+ hours monthly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40080" y="4166325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Data inconsistencies across systems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40080" y="4509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No historical trend analysis capability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40080" y="4845957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Manual data entry errors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914400" y="58521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Cannot answer critical business questions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914400" y="61722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Report turnaround time: 3+ weeks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80423" y="685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065A8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Project Objectives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480423" y="662940"/>
            <a:ext cx="2011680" cy="137160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57200" y="1058454"/>
            <a:ext cx="2011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617583" y="1637937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Systems Integrated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983048" y="660038"/>
            <a:ext cx="2011680" cy="137160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3074851" y="1097280"/>
            <a:ext cx="2011680" cy="4571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15hr</a:t>
            </a:r>
            <a:endParaRPr lang="en-US" sz="4800" dirty="0"/>
          </a:p>
        </p:txBody>
      </p:sp>
      <p:sp>
        <p:nvSpPr>
          <p:cNvPr id="8" name="Text 6"/>
          <p:cNvSpPr/>
          <p:nvPr/>
        </p:nvSpPr>
        <p:spPr>
          <a:xfrm>
            <a:off x="3051628" y="1524000"/>
            <a:ext cx="2011680" cy="25907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 Saved Monthly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233852" y="681809"/>
            <a:ext cx="2011680" cy="1371600"/>
          </a:xfrm>
          <a:prstGeom prst="rect">
            <a:avLst/>
          </a:prstGeom>
          <a:solidFill>
            <a:srgbClr val="2129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5257075" y="765810"/>
            <a:ext cx="2011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100%</a:t>
            </a:r>
            <a:endParaRPr lang="en-US" sz="4800" dirty="0"/>
          </a:p>
        </p:txBody>
      </p:sp>
      <p:sp>
        <p:nvSpPr>
          <p:cNvPr id="11" name="Text 9"/>
          <p:cNvSpPr/>
          <p:nvPr/>
        </p:nvSpPr>
        <p:spPr>
          <a:xfrm>
            <a:off x="5348513" y="1514475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Consistency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81875" y="2357437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Objectives: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14235" y="2891857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207555" y="2802617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40080" y="2860357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Consolidate data from three heterogeneous sources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20040" y="3240994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640080" y="425196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3222327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 robust ETL pipeline with data quality management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14235" y="3555228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640080" y="457200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40080" y="3561126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dimensional model using Star Schema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320040" y="3905295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640080" y="489204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40080" y="3921352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Enable OLAP operations (drill-down, roll-up, slicing, dicing)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11201" y="4239352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640080" y="521208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47337" y="4271265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Provide interactive dashboards for different user roles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14235" y="4556760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640080" y="553212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670923" y="4511559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 security measures and access controls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311201" y="4847960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358503" y="4957717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670923" y="4854459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Ensure scalability and backup/recovery capabilities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07554"/>
            <a:ext cx="8229600" cy="3338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65A8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System Architecture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1148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3-Tier Architecture with ETL Pipeline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31520" y="13665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 Layer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657350"/>
            <a:ext cx="1828800" cy="1828800"/>
          </a:xfrm>
          <a:prstGeom prst="rect">
            <a:avLst/>
          </a:prstGeom>
          <a:solidFill>
            <a:srgbClr val="CADCFC"/>
          </a:solidFill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40080" y="1840230"/>
            <a:ext cx="16459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MySQL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Book System</a:t>
            </a:r>
            <a:endParaRPr lang="en-US" sz="1100" dirty="0"/>
          </a:p>
          <a:p>
            <a:pPr marL="0" indent="0" algn="ctr">
              <a:buNone/>
            </a:pP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Excel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Digital Usage</a:t>
            </a:r>
            <a:endParaRPr lang="en-US" sz="1100" dirty="0"/>
          </a:p>
          <a:p>
            <a:pPr marL="0" indent="0" algn="ctr">
              <a:buNone/>
            </a:pP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CSV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Room Bookings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561046" y="2438763"/>
            <a:ext cx="731520" cy="365760"/>
          </a:xfrm>
          <a:prstGeom prst="rightArrow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3474720" y="130302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ETL Layer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337560" y="1707243"/>
            <a:ext cx="2194560" cy="1828800"/>
          </a:xfrm>
          <a:prstGeom prst="rect">
            <a:avLst/>
          </a:prstGeom>
          <a:solidFill>
            <a:srgbClr val="F0F8FF"/>
          </a:solidFill>
          <a:ln w="254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3223260" y="1817370"/>
            <a:ext cx="20116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Extract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Transform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</a:t>
            </a:r>
            <a:endParaRPr lang="en-US" sz="1100" dirty="0"/>
          </a:p>
          <a:p>
            <a:pPr marL="0" indent="0" algn="ctr">
              <a:buNone/>
            </a:pP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Quality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Cleansing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Validation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27189" y="2474595"/>
            <a:ext cx="731520" cy="365760"/>
          </a:xfrm>
          <a:prstGeom prst="rightArrow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6126480" y="1297305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Storage Layer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377940" y="1571625"/>
            <a:ext cx="2103120" cy="1828800"/>
          </a:xfrm>
          <a:prstGeom prst="rect">
            <a:avLst/>
          </a:prstGeom>
          <a:solidFill>
            <a:srgbClr val="CADCFC"/>
          </a:solidFill>
          <a:ln w="25400">
            <a:solidFill>
              <a:srgbClr val="2129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400800" y="1707243"/>
            <a:ext cx="19202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 Schema</a:t>
            </a:r>
            <a:endParaRPr lang="en-US" sz="1100" dirty="0"/>
          </a:p>
          <a:p>
            <a:pPr marL="0" indent="0" algn="ctr">
              <a:buNone/>
            </a:pP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Fact Table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Dimensions</a:t>
            </a:r>
            <a:endParaRPr lang="en-US" sz="1100" dirty="0"/>
          </a:p>
          <a:p>
            <a:pPr marL="0" indent="0" algn="ctr">
              <a:buNone/>
            </a:pP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MySQL Database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57200" y="3710577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Layer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40080" y="4091940"/>
            <a:ext cx="1371600" cy="54864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558800" y="4091940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Dashboard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2377440" y="4082052"/>
            <a:ext cx="1371600" cy="54864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2377440" y="4183198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Department Dashboard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931920" y="4082052"/>
            <a:ext cx="1371600" cy="54864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3923211" y="4183198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Operational Dashboard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394962" y="4076337"/>
            <a:ext cx="1371600" cy="54864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5312229" y="4159431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 Queries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958151" y="4094752"/>
            <a:ext cx="1371600" cy="54864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6875418" y="4140744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Reports &amp; Analytics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065A8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Data Model: Star Schema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Fact Table + 5 Dimension Tables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3200400" y="2743200"/>
            <a:ext cx="2743200" cy="1371600"/>
          </a:xfrm>
          <a:prstGeom prst="rect">
            <a:avLst/>
          </a:prstGeom>
          <a:solidFill>
            <a:srgbClr val="21295C"/>
          </a:solidFill>
          <a:ln w="38100">
            <a:solidFill>
              <a:srgbClr val="2129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3200400" y="292608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FACT TABLE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library_usage_fact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200400" y="347472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Measures: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quantity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duration_hours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914400" y="1645920"/>
            <a:ext cx="1828800" cy="1097280"/>
          </a:xfrm>
          <a:prstGeom prst="rect">
            <a:avLst/>
          </a:prstGeom>
          <a:solidFill>
            <a:srgbClr val="1C7293"/>
          </a:solidFill>
          <a:ln w="254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914400" y="17373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dim_date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210312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 hierarchy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Year/Quarter/Month/Day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492240" y="1603193"/>
            <a:ext cx="1828800" cy="1097280"/>
          </a:xfrm>
          <a:prstGeom prst="rect">
            <a:avLst/>
          </a:prstGeom>
          <a:solidFill>
            <a:srgbClr val="1C7293"/>
          </a:solidFill>
          <a:ln w="254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6400800" y="17373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dim_student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92240" y="210312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 info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Department/Type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82172" y="3589020"/>
            <a:ext cx="1828800" cy="1097280"/>
          </a:xfrm>
          <a:prstGeom prst="rect">
            <a:avLst/>
          </a:prstGeom>
          <a:solidFill>
            <a:srgbClr val="1C7293"/>
          </a:solidFill>
          <a:ln w="254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82172" y="3646714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dim_resource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82172" y="402336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Books/E-books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Journals/Articles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492240" y="3589020"/>
            <a:ext cx="1828800" cy="1097280"/>
          </a:xfrm>
          <a:prstGeom prst="rect">
            <a:avLst/>
          </a:prstGeom>
          <a:solidFill>
            <a:srgbClr val="1C7293"/>
          </a:solidFill>
          <a:ln w="254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6560457" y="3663587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dim_location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543040" y="4037783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Study rooms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Building/Floor</a:t>
            </a:r>
            <a:endParaRPr lang="en-US" sz="1000" dirty="0"/>
          </a:p>
        </p:txBody>
      </p:sp>
      <p:sp>
        <p:nvSpPr>
          <p:cNvPr id="10" name="Shape 9">
            <a:extLst>
              <a:ext uri="{FF2B5EF4-FFF2-40B4-BE49-F238E27FC236}">
                <a16:creationId xmlns:a16="http://schemas.microsoft.com/office/drawing/2014/main" id="{704340C4-CDBB-09C6-BBF4-9CE5046B086A}"/>
              </a:ext>
            </a:extLst>
          </p:cNvPr>
          <p:cNvSpPr/>
          <p:nvPr/>
        </p:nvSpPr>
        <p:spPr>
          <a:xfrm>
            <a:off x="3140824" y="1493520"/>
            <a:ext cx="2299854" cy="1097280"/>
          </a:xfrm>
          <a:prstGeom prst="rect">
            <a:avLst/>
          </a:prstGeom>
          <a:solidFill>
            <a:srgbClr val="1C7293"/>
          </a:solidFill>
          <a:ln w="25400">
            <a:solidFill>
              <a:srgbClr val="1C7293"/>
            </a:solidFill>
            <a:prstDash val="solid"/>
          </a:ln>
        </p:spPr>
        <p:txBody>
          <a:bodyPr/>
          <a:lstStyle/>
          <a:p>
            <a:pPr algn="ctr"/>
            <a:r>
              <a:rPr lang="en-US" sz="1400" b="1" dirty="0" err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Dim_department</a:t>
            </a:r>
            <a:endParaRPr lang="en-US" sz="1400" b="1" dirty="0">
              <a:solidFill>
                <a:srgbClr val="FFFFF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algn="ctr"/>
            <a:endParaRPr lang="en-US" b="1" dirty="0">
              <a:solidFill>
                <a:srgbClr val="FFFFF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algn="ctr"/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Department/info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065A8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ETL Pipeline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Extract, Transform, Load Process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731520" y="1828800"/>
            <a:ext cx="2560320" cy="45720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EXTRACT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822960" y="2468880"/>
            <a:ext cx="228600" cy="228600"/>
          </a:xfrm>
          <a:prstGeom prst="ellipse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143000" y="2468880"/>
            <a:ext cx="2057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from MySQL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22960" y="2788920"/>
            <a:ext cx="228600" cy="228600"/>
          </a:xfrm>
          <a:prstGeom prst="ellipse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143000" y="2788920"/>
            <a:ext cx="2057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Parse Excel files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822960" y="3108960"/>
            <a:ext cx="228600" cy="228600"/>
          </a:xfrm>
          <a:prstGeom prst="ellipse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1143000" y="3108960"/>
            <a:ext cx="2057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 CSV data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22960" y="3429000"/>
            <a:ext cx="228600" cy="228600"/>
          </a:xfrm>
          <a:prstGeom prst="ellipse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1143000" y="3429000"/>
            <a:ext cx="2057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Initial validation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22960" y="3749040"/>
            <a:ext cx="228600" cy="228600"/>
          </a:xfrm>
          <a:prstGeom prst="ellipse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1143000" y="3749040"/>
            <a:ext cx="2057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Error logging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474720" y="1828800"/>
            <a:ext cx="2560320" cy="45720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3474720" y="182880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TRANSFORM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3566160" y="2468880"/>
            <a:ext cx="228600" cy="22860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3886200" y="2468880"/>
            <a:ext cx="2057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Standardize dates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566160" y="2788920"/>
            <a:ext cx="228600" cy="22860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3886200" y="2788920"/>
            <a:ext cx="2057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Clean department names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566160" y="3108960"/>
            <a:ext cx="228600" cy="22860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3886200" y="3108960"/>
            <a:ext cx="2057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Remove duplicates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3566160" y="3429000"/>
            <a:ext cx="228600" cy="22860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3886200" y="3429000"/>
            <a:ext cx="2057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Handle missing values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566160" y="3749040"/>
            <a:ext cx="228600" cy="22860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3886200" y="3749040"/>
            <a:ext cx="2057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Validate data types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217920" y="1828800"/>
            <a:ext cx="2560320" cy="457200"/>
          </a:xfrm>
          <a:prstGeom prst="rect">
            <a:avLst/>
          </a:prstGeom>
          <a:solidFill>
            <a:srgbClr val="2129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6217920" y="182880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LOAD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6309360" y="2468880"/>
            <a:ext cx="228600" cy="228600"/>
          </a:xfrm>
          <a:prstGeom prst="ellipse">
            <a:avLst/>
          </a:prstGeom>
          <a:solidFill>
            <a:srgbClr val="2129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6629400" y="2468880"/>
            <a:ext cx="2057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Populate dimensions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309360" y="2788920"/>
            <a:ext cx="228600" cy="228600"/>
          </a:xfrm>
          <a:prstGeom prst="ellipse">
            <a:avLst/>
          </a:prstGeom>
          <a:solidFill>
            <a:srgbClr val="2129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6629400" y="2788920"/>
            <a:ext cx="2057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 fact table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309360" y="3108960"/>
            <a:ext cx="228600" cy="228600"/>
          </a:xfrm>
          <a:prstGeom prst="ellipse">
            <a:avLst/>
          </a:prstGeom>
          <a:solidFill>
            <a:srgbClr val="2129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6629400" y="3108960"/>
            <a:ext cx="2057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Update indexes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6309360" y="3429000"/>
            <a:ext cx="228600" cy="228600"/>
          </a:xfrm>
          <a:prstGeom prst="ellipse">
            <a:avLst/>
          </a:prstGeom>
          <a:solidFill>
            <a:srgbClr val="2129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6629400" y="3429000"/>
            <a:ext cx="2057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Quality checks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6309360" y="3749040"/>
            <a:ext cx="228600" cy="228600"/>
          </a:xfrm>
          <a:prstGeom prst="ellipse">
            <a:avLst/>
          </a:prstGeom>
          <a:solidFill>
            <a:srgbClr val="2129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6629400" y="3749040"/>
            <a:ext cx="2057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Generate reports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937260" y="40919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Quality Improvements</a:t>
            </a:r>
            <a:endParaRPr lang="en-US" sz="1800" dirty="0"/>
          </a:p>
        </p:txBody>
      </p:sp>
      <p:sp>
        <p:nvSpPr>
          <p:cNvPr id="41" name="Shape 39"/>
          <p:cNvSpPr/>
          <p:nvPr/>
        </p:nvSpPr>
        <p:spPr>
          <a:xfrm>
            <a:off x="822960" y="4457700"/>
            <a:ext cx="7383780" cy="594360"/>
          </a:xfrm>
          <a:prstGeom prst="rect">
            <a:avLst/>
          </a:prstGeom>
          <a:solidFill>
            <a:srgbClr val="FFF8DC"/>
          </a:solidFill>
          <a:ln w="254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830580" y="4549140"/>
            <a:ext cx="7315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ETL: 25% data quality issues (inconsistent names, missing values, duplicates)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 ETL: 2% residual issues (only edge cases) | 92% improvement in data quality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065A8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Data Quality Results</a:t>
            </a:r>
            <a:endParaRPr lang="en-US" sz="4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2840169"/>
              </p:ext>
            </p:extLst>
          </p:nvPr>
        </p:nvGraphicFramePr>
        <p:xfrm>
          <a:off x="457200" y="825681"/>
          <a:ext cx="7680960" cy="2743200"/>
        </p:xfrm>
        <a:graphic>
          <a:graphicData uri="http://schemas.openxmlformats.org/drawingml/2006/table">
            <a:tbl>
              <a:tblPr/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Issue Type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Before ETL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After ETL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Improvement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Inconsistent Departments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 variations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 standard names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86% reduction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Date Format Issues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10+ formats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standard (ISO)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 standardized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Missing Values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380 records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 records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88% resolved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Duplicate Records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127 duplicates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duplicates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 removed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Invalid Data Types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 errors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errors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97% corrected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290286" y="3576138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Achievements: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529772" y="3941898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634 total records processed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529772" y="4158252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580 records successfully cleaned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580572" y="4374606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92% overall data quality improvement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29772" y="4603206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Automated validation rules implemented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065A8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Business Intelligence &amp; Analytics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13+ SQL Queries Answering Critical Questions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13805" y="1449324"/>
            <a:ext cx="7680960" cy="36576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31520" y="147349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Basic Reporting (5 queries)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010195" y="1888236"/>
            <a:ext cx="6949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Monthly usage trends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010195" y="2107692"/>
            <a:ext cx="6949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Department rankings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47931" y="2313432"/>
            <a:ext cx="6949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Peak usage times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047931" y="2500884"/>
            <a:ext cx="6949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Popular resources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047931" y="2696174"/>
            <a:ext cx="6949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Average loan duration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13805" y="3073690"/>
            <a:ext cx="7680960" cy="36576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731520" y="311941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OLAP Operations (5 queries)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79565" y="3594898"/>
            <a:ext cx="6949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Drill-down (Year → Day)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79565" y="3757694"/>
            <a:ext cx="6949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Roll-up (Day → Month)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79565" y="3904489"/>
            <a:ext cx="6949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Slicing (Q1 2024)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79565" y="4038383"/>
            <a:ext cx="6949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Dicing (Eng + Digital + March)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79565" y="4206568"/>
            <a:ext cx="6949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Pivot analysis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63005" y="4474356"/>
            <a:ext cx="7680960" cy="36576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513805" y="4487419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Analytics (3 queries)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226422" y="4910980"/>
            <a:ext cx="6949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Correlation analysis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2026194" y="4908696"/>
            <a:ext cx="6949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Trend forecasting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152537" y="4905430"/>
            <a:ext cx="6949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Anomaly detection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065A8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Interactive Dashboards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Dashboards for Different User Roles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2560320" cy="3657600"/>
          </a:xfrm>
          <a:prstGeom prst="rect">
            <a:avLst/>
          </a:prstGeom>
          <a:solidFill>
            <a:srgbClr val="FFFFFF"/>
          </a:solidFill>
          <a:ln w="381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2560320" cy="73152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48640" y="192024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Executive Dashboard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48640" y="27432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For: Library Directors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3200400"/>
            <a:ext cx="21945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Total usage KPIs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31520" y="3474720"/>
            <a:ext cx="21945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Trend analysis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31520" y="3749040"/>
            <a:ext cx="21945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Department comparison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31520" y="4023360"/>
            <a:ext cx="21945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High-level metrics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291840" y="1828800"/>
            <a:ext cx="2560320" cy="3657600"/>
          </a:xfrm>
          <a:prstGeom prst="rect">
            <a:avLst/>
          </a:prstGeom>
          <a:solidFill>
            <a:srgbClr val="FFFFFF"/>
          </a:solidFill>
          <a:ln w="381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3291840" y="1828800"/>
            <a:ext cx="2560320" cy="73152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3291840" y="192024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Department Dashboard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291840" y="27432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For: Department Heads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474720" y="3200400"/>
            <a:ext cx="21945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Department filter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474720" y="3474720"/>
            <a:ext cx="21945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Usage over time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3474720" y="3749040"/>
            <a:ext cx="21945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Resource preferences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474720" y="4023360"/>
            <a:ext cx="21945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Peer comparison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035040" y="1828800"/>
            <a:ext cx="2560320" cy="3657600"/>
          </a:xfrm>
          <a:prstGeom prst="rect">
            <a:avLst/>
          </a:prstGeom>
          <a:solidFill>
            <a:srgbClr val="FFFFFF"/>
          </a:solidFill>
          <a:ln w="38100">
            <a:solidFill>
              <a:srgbClr val="2129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6035040" y="1828800"/>
            <a:ext cx="2560320" cy="731520"/>
          </a:xfrm>
          <a:prstGeom prst="rect">
            <a:avLst/>
          </a:prstGeom>
          <a:solidFill>
            <a:srgbClr val="2129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6035040" y="192024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Operational Dashboard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035040" y="27432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For: Library Staff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217920" y="3200400"/>
            <a:ext cx="21945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Real-time activity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217920" y="3474720"/>
            <a:ext cx="21945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Room availability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217920" y="3749040"/>
            <a:ext cx="21945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Recent transactions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217920" y="4023360"/>
            <a:ext cx="21945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Alert notifications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065A8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Security &amp; Governance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1097280" y="1828800"/>
            <a:ext cx="2194560" cy="2286000"/>
          </a:xfrm>
          <a:prstGeom prst="rect">
            <a:avLst/>
          </a:prstGeom>
          <a:solidFill>
            <a:srgbClr val="CADCFC"/>
          </a:solidFill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097280" y="210312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🔐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097280" y="265176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Access Control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280160" y="301752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Role-Based Access Control (RBAC)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Admin - Full access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Analyst - Read-only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Dept Head - Department data only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828800"/>
            <a:ext cx="2194560" cy="2286000"/>
          </a:xfrm>
          <a:prstGeom prst="rect">
            <a:avLst/>
          </a:prstGeom>
          <a:solidFill>
            <a:srgbClr val="CADCFC"/>
          </a:solidFill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3474720" y="210312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🔒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3474720" y="265176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Protection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657600" y="301752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Privacy &amp; Masking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Student IDs masked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Sensitive fields protected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Audit trail logging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852160" y="1828800"/>
            <a:ext cx="2194560" cy="2286000"/>
          </a:xfrm>
          <a:prstGeom prst="rect">
            <a:avLst/>
          </a:prstGeom>
          <a:solidFill>
            <a:srgbClr val="CADCFC"/>
          </a:solidFill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5852160" y="210312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💾</a:t>
            </a:r>
            <a:endParaRPr lang="en-US" sz="3600" dirty="0"/>
          </a:p>
        </p:txBody>
      </p:sp>
      <p:sp>
        <p:nvSpPr>
          <p:cNvPr id="13" name="Text 11"/>
          <p:cNvSpPr/>
          <p:nvPr/>
        </p:nvSpPr>
        <p:spPr>
          <a:xfrm>
            <a:off x="5852160" y="265176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Backup &amp; Recovery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035040" y="301752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Robust Protection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Weekly full backups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Daily incremental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30-day retention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24114" y="42976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Compliance &amp; Best Practices: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805543" y="461772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GDPR-compliant data handling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05543" y="477774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Regular security audits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799943" y="4595223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Encrypted data transmission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187372" y="4622074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Comprehensive audit logging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187372" y="482346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Disaster recovery plan documented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799943" y="4837067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Regular penetration testing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51543" y="1143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065A8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Results &amp; Benefits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248194" y="75057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21295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Before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463143" y="695869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C7293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After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86080" y="1180012"/>
            <a:ext cx="3291840" cy="548640"/>
          </a:xfrm>
          <a:prstGeom prst="rect">
            <a:avLst/>
          </a:prstGeom>
          <a:solidFill>
            <a:srgbClr val="FFE5E5"/>
          </a:solidFill>
          <a:ln w="12700">
            <a:solidFill>
              <a:srgbClr val="2129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10606" y="139446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15+ hours/month manual work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0" y="1241608"/>
            <a:ext cx="3291840" cy="548640"/>
          </a:xfrm>
          <a:prstGeom prst="rect">
            <a:avLst/>
          </a:prstGeom>
          <a:solidFill>
            <a:srgbClr val="E5F5E5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506686" y="140453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&lt;30 minutes automated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93337" y="1882594"/>
            <a:ext cx="3291840" cy="548640"/>
          </a:xfrm>
          <a:prstGeom prst="rect">
            <a:avLst/>
          </a:prstGeom>
          <a:solidFill>
            <a:srgbClr val="FFE5E5"/>
          </a:solidFill>
          <a:ln w="12700">
            <a:solidFill>
              <a:srgbClr val="2129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217714" y="204597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3+ weeks report turnaround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0" y="1904547"/>
            <a:ext cx="3291840" cy="548640"/>
          </a:xfrm>
          <a:prstGeom prst="rect">
            <a:avLst/>
          </a:prstGeom>
          <a:solidFill>
            <a:srgbClr val="E5F5E5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506686" y="2067469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Instant real-time access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93337" y="2535192"/>
            <a:ext cx="3291840" cy="548640"/>
          </a:xfrm>
          <a:prstGeom prst="rect">
            <a:avLst/>
          </a:prstGeom>
          <a:solidFill>
            <a:srgbClr val="FFE5E5"/>
          </a:solidFill>
          <a:ln w="12700">
            <a:solidFill>
              <a:srgbClr val="2129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310606" y="267462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Inconsistent &amp; contradictory data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0" y="2653211"/>
            <a:ext cx="3291840" cy="548640"/>
          </a:xfrm>
          <a:prstGeom prst="rect">
            <a:avLst/>
          </a:prstGeom>
          <a:solidFill>
            <a:srgbClr val="E5F5E5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454434" y="2822756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data consistency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86080" y="3189876"/>
            <a:ext cx="3291840" cy="548640"/>
          </a:xfrm>
          <a:prstGeom prst="rect">
            <a:avLst/>
          </a:prstGeom>
          <a:solidFill>
            <a:srgbClr val="FFE5E5"/>
          </a:solidFill>
          <a:ln w="12700">
            <a:solidFill>
              <a:srgbClr val="2129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0" y="334400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historical analysis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0" y="3295922"/>
            <a:ext cx="3291840" cy="548640"/>
          </a:xfrm>
          <a:prstGeom prst="rect">
            <a:avLst/>
          </a:prstGeom>
          <a:solidFill>
            <a:srgbClr val="E5F5E5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4454434" y="3403419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Complete trend analysis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86080" y="3852635"/>
            <a:ext cx="3291840" cy="548640"/>
          </a:xfrm>
          <a:prstGeom prst="rect">
            <a:avLst/>
          </a:prstGeom>
          <a:solidFill>
            <a:srgbClr val="FFE5E5"/>
          </a:solidFill>
          <a:ln w="12700">
            <a:solidFill>
              <a:srgbClr val="2129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137160" y="401193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Manual error-prone process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572000" y="3918403"/>
            <a:ext cx="3291840" cy="548640"/>
          </a:xfrm>
          <a:prstGeom prst="rect">
            <a:avLst/>
          </a:prstGeom>
          <a:solidFill>
            <a:srgbClr val="E5F5E5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4572000" y="4023541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Automated with validation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57200" y="4478746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Impact: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300446" y="462915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Improved decision-making with real-time data  ✓ Better resource allocation  ✓ Enhanced student services  ✓ Cost savings through automation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00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065A8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Future Enhancements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31372" y="8001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Roadmap for Continuous Improvement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731520" y="1211580"/>
            <a:ext cx="7680960" cy="45720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885371" y="121158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Phase 1 (Q1 2026)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14400" y="174879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Mobile app development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14400" y="194310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Push notifications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14400" y="208026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Offline dashboard access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31520" y="2377440"/>
            <a:ext cx="7680960" cy="45720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905692" y="241173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Phase 2 (Q2 2026)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972458" y="289179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Predictive analytics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972458" y="308610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Machine learning models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72458" y="3274695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Resource recommendation engine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31520" y="3577590"/>
            <a:ext cx="7680960" cy="457200"/>
          </a:xfrm>
          <a:prstGeom prst="rect">
            <a:avLst/>
          </a:prstGeom>
          <a:solidFill>
            <a:srgbClr val="2129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1079863" y="357759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Phase 3 (Q3 2026)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914400" y="430911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Integration with LMS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27315" y="485775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Student engagement scoring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31520" y="40690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Additional Considerations: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885371" y="435483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Cloud migration for scalability  • API development for third-party integration  • Advanced visualization tools  • Natural language query interface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8171" y="2286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065A8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Lessons Learned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114300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Technical Lessons: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28171" y="15773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Data quality is critical - invest time in cleaning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28171" y="197739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Star schema simplifies queries significantly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22631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ETL testing prevents production issues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42686" y="253746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Incremental loads are better than full refreshes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28171" y="291465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Index optimization dramatically improves performance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754880" y="114300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C72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Lessons: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572000" y="15773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User feedback drives better dashboard design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0" y="196596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Training is essential for adoption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42971" y="22860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Start simple, add complexity gradually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42971" y="25603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Document everything for maintenance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542971" y="286893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Security cannot be an afterthought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28171" y="34290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Challenges Overcome: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291737" y="3794941"/>
            <a:ext cx="6949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Handled 10+ different date formats across systems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291737" y="4091759"/>
            <a:ext cx="6949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Resolved 35 variations of department naming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91737" y="4343581"/>
            <a:ext cx="6949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Eliminated 127 duplicate records without data loss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264160" y="4549321"/>
            <a:ext cx="6949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Implemented robust error handling for edge cases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65A8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Project Success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22860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i="1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Complete Data Warehousing Solution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1371600" y="3200400"/>
            <a:ext cx="1645920" cy="1371600"/>
          </a:xfrm>
          <a:prstGeom prst="rect">
            <a:avLst/>
          </a:prstGeom>
          <a:solidFill>
            <a:srgbClr val="FFFFFF"/>
          </a:solidFill>
          <a:ln w="254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371600" y="338328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C7293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✓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371600" y="374904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65A8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100%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1371600" y="420624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Systems Integrated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200400" y="3200400"/>
            <a:ext cx="1645920" cy="1371600"/>
          </a:xfrm>
          <a:prstGeom prst="rect">
            <a:avLst/>
          </a:prstGeom>
          <a:solidFill>
            <a:srgbClr val="FFFFFF"/>
          </a:solidFill>
          <a:ln w="254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3200400" y="338328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C7293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✓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3200400" y="374904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65A8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92%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3200400" y="420624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Quality Improved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029200" y="3200400"/>
            <a:ext cx="1645920" cy="1371600"/>
          </a:xfrm>
          <a:prstGeom prst="rect">
            <a:avLst/>
          </a:prstGeom>
          <a:solidFill>
            <a:srgbClr val="FFFFFF"/>
          </a:solidFill>
          <a:ln w="254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5029200" y="338328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C7293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✓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5029200" y="374904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65A8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15hrs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5029200" y="420624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 Saved Monthly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858000" y="3200400"/>
            <a:ext cx="1645920" cy="1371600"/>
          </a:xfrm>
          <a:prstGeom prst="rect">
            <a:avLst/>
          </a:prstGeom>
          <a:solidFill>
            <a:srgbClr val="FFFFFF"/>
          </a:solidFill>
          <a:ln w="254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6858000" y="338328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C7293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✓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6858000" y="374904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65A8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Instant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6858000" y="420624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Report Turnaround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57200" y="53035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 for your attention!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457200" y="57607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i="1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 &amp; Discussion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247</TotalTime>
  <Words>1106</Words>
  <Application>Microsoft Office PowerPoint</Application>
  <PresentationFormat>On-screen Show (16:9)</PresentationFormat>
  <Paragraphs>323</Paragraphs>
  <Slides>16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2" baseType="lpstr">
      <vt:lpstr>Aptos</vt:lpstr>
      <vt:lpstr>Aptos Display</vt:lpstr>
      <vt:lpstr>Arial</vt:lpstr>
      <vt:lpstr>Arial Black</vt:lpstr>
      <vt:lpstr>Times New Roman</vt:lpstr>
      <vt:lpstr>Office Theme</vt:lpstr>
      <vt:lpstr>PowerPoint Presentation</vt:lpstr>
      <vt:lpstr>GROUP 1 MEMBERS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University Library Analytics Data Warehouse</dc:title>
  <dc:subject>Academic Project Presentation</dc:subject>
  <dc:creator>Group 1</dc:creator>
  <cp:lastModifiedBy>cyprien nzayisenga</cp:lastModifiedBy>
  <cp:revision>9</cp:revision>
  <dcterms:created xsi:type="dcterms:W3CDTF">2026-01-29T17:27:42Z</dcterms:created>
  <dcterms:modified xsi:type="dcterms:W3CDTF">2026-02-03T17:36:02Z</dcterms:modified>
</cp:coreProperties>
</file>