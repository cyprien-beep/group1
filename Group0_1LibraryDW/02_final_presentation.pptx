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4" autoAdjust="0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3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3826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DEB19-D674-A89E-55DF-5C4B7914F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20C59-7BE5-6CE5-5D00-40F8C75DD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21016-AC22-678F-07B2-39A659186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3ED35-1DFE-4C8E-AB7B-30ADA7D40FAC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4696C-AF65-4124-481D-1373F229D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74BEBB-D2E9-BAE0-48D6-3787E2ADC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31CC9-6952-428F-979E-C773B8004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956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364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8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Library Usage Data Warehouse Project </a:t>
            </a:r>
            <a:endParaRPr lang="en-US" sz="4800" dirty="0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213360" y="350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ADCFC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Data Warehouse Project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Integrating Three Library Systems into One Analytics Platform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 | ITLDM801 | January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1EA2A-B47A-7406-06ED-1AC5818A0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524" y="53340"/>
            <a:ext cx="8846050" cy="5001546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Presentation Agenda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ACE05090-1A97-BDB2-D2B4-863F68B59602}"/>
              </a:ext>
            </a:extLst>
          </p:cNvPr>
          <p:cNvSpPr/>
          <p:nvPr/>
        </p:nvSpPr>
        <p:spPr>
          <a:xfrm>
            <a:off x="342900" y="558658"/>
            <a:ext cx="6172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4EFAC3E-6475-C6F3-7D0B-0D472CE42D11}"/>
              </a:ext>
            </a:extLst>
          </p:cNvPr>
          <p:cNvSpPr/>
          <p:nvPr/>
        </p:nvSpPr>
        <p:spPr>
          <a:xfrm>
            <a:off x="548640" y="1028700"/>
            <a:ext cx="414563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386034E-15DE-163E-47D0-B99BF3DAB0F1}"/>
              </a:ext>
            </a:extLst>
          </p:cNvPr>
          <p:cNvSpPr/>
          <p:nvPr/>
        </p:nvSpPr>
        <p:spPr>
          <a:xfrm>
            <a:off x="1028700" y="1028700"/>
            <a:ext cx="27432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1212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1. Problem Statement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EBD8500-A275-49E5-6D23-BC34B34311CF}"/>
              </a:ext>
            </a:extLst>
          </p:cNvPr>
          <p:cNvSpPr/>
          <p:nvPr/>
        </p:nvSpPr>
        <p:spPr>
          <a:xfrm>
            <a:off x="1028700" y="1200150"/>
            <a:ext cx="27432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Current challenges in library operations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EC8CE0B-200A-8948-0D3A-82AF7A758C77}"/>
              </a:ext>
            </a:extLst>
          </p:cNvPr>
          <p:cNvSpPr/>
          <p:nvPr/>
        </p:nvSpPr>
        <p:spPr>
          <a:xfrm>
            <a:off x="548640" y="1474470"/>
            <a:ext cx="414563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803C79E-63B4-7941-B184-8DCBA8187C42}"/>
              </a:ext>
            </a:extLst>
          </p:cNvPr>
          <p:cNvSpPr/>
          <p:nvPr/>
        </p:nvSpPr>
        <p:spPr>
          <a:xfrm>
            <a:off x="1028700" y="1474470"/>
            <a:ext cx="27432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1212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2. Project Objectives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4B3B960E-DC0E-42C0-CFAD-63A96A315B5B}"/>
              </a:ext>
            </a:extLst>
          </p:cNvPr>
          <p:cNvSpPr/>
          <p:nvPr/>
        </p:nvSpPr>
        <p:spPr>
          <a:xfrm>
            <a:off x="1028700" y="1645920"/>
            <a:ext cx="27432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Goals and expected outcomes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0BA9789D-496D-049E-CA5B-500EC15C491C}"/>
              </a:ext>
            </a:extLst>
          </p:cNvPr>
          <p:cNvSpPr/>
          <p:nvPr/>
        </p:nvSpPr>
        <p:spPr>
          <a:xfrm>
            <a:off x="483143" y="1920240"/>
            <a:ext cx="545557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0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7C550B8E-3BA5-0535-FBD1-FC8A95E2EA30}"/>
              </a:ext>
            </a:extLst>
          </p:cNvPr>
          <p:cNvSpPr/>
          <p:nvPr/>
        </p:nvSpPr>
        <p:spPr>
          <a:xfrm>
            <a:off x="1028700" y="1920240"/>
            <a:ext cx="27432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1212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3. System Architecture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677F6704-9155-98EC-0595-F64FDB70A35C}"/>
              </a:ext>
            </a:extLst>
          </p:cNvPr>
          <p:cNvSpPr/>
          <p:nvPr/>
        </p:nvSpPr>
        <p:spPr>
          <a:xfrm>
            <a:off x="1028700" y="2091690"/>
            <a:ext cx="27432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Technical design and components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091D8B25-3AD4-99E1-D573-B1DDDA722DAC}"/>
              </a:ext>
            </a:extLst>
          </p:cNvPr>
          <p:cNvSpPr/>
          <p:nvPr/>
        </p:nvSpPr>
        <p:spPr>
          <a:xfrm>
            <a:off x="548640" y="2366010"/>
            <a:ext cx="342900" cy="3428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04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7B788E3D-E5FE-B49D-9162-63D73A2BC80F}"/>
              </a:ext>
            </a:extLst>
          </p:cNvPr>
          <p:cNvSpPr/>
          <p:nvPr/>
        </p:nvSpPr>
        <p:spPr>
          <a:xfrm>
            <a:off x="1028700" y="2366010"/>
            <a:ext cx="27432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1212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4. Data Model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FA5EFA2D-A222-4ADA-FD63-C41F73D9BA22}"/>
              </a:ext>
            </a:extLst>
          </p:cNvPr>
          <p:cNvSpPr/>
          <p:nvPr/>
        </p:nvSpPr>
        <p:spPr>
          <a:xfrm>
            <a:off x="1028700" y="2537460"/>
            <a:ext cx="27432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Star schema and dimensional modeling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2FC1FE5B-5B94-3F93-78CD-FBDDDE86E3D6}"/>
              </a:ext>
            </a:extLst>
          </p:cNvPr>
          <p:cNvSpPr/>
          <p:nvPr/>
        </p:nvSpPr>
        <p:spPr>
          <a:xfrm>
            <a:off x="548640" y="2811780"/>
            <a:ext cx="414563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05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F538C5A9-6EA0-7B9D-6E4B-A48DD411D383}"/>
              </a:ext>
            </a:extLst>
          </p:cNvPr>
          <p:cNvSpPr/>
          <p:nvPr/>
        </p:nvSpPr>
        <p:spPr>
          <a:xfrm>
            <a:off x="1028700" y="2811780"/>
            <a:ext cx="27432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1212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5. ETL Pipeline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CE200099-E085-2855-EB9A-0D06FD351BD8}"/>
              </a:ext>
            </a:extLst>
          </p:cNvPr>
          <p:cNvSpPr/>
          <p:nvPr/>
        </p:nvSpPr>
        <p:spPr>
          <a:xfrm>
            <a:off x="1028700" y="2983230"/>
            <a:ext cx="27432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Data extraction, transformation, and loading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DCC23329-8CD4-723D-2FF4-482D7CB9BF93}"/>
              </a:ext>
            </a:extLst>
          </p:cNvPr>
          <p:cNvSpPr/>
          <p:nvPr/>
        </p:nvSpPr>
        <p:spPr>
          <a:xfrm>
            <a:off x="548640" y="3257550"/>
            <a:ext cx="3429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Arial Black" pitchFamily="34" charset="-122"/>
                <a:cs typeface="Times New Roman" panose="02020603050405020304" pitchFamily="18" charset="0"/>
              </a:rPr>
              <a:t>06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D1F40AE2-CDA1-81A2-7D53-7E349C728981}"/>
              </a:ext>
            </a:extLst>
          </p:cNvPr>
          <p:cNvSpPr/>
          <p:nvPr/>
        </p:nvSpPr>
        <p:spPr>
          <a:xfrm>
            <a:off x="1028700" y="3257550"/>
            <a:ext cx="27432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1212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6. Analytics &amp; Insights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B698F58A-0DB3-89A1-4859-1160583F3C34}"/>
              </a:ext>
            </a:extLst>
          </p:cNvPr>
          <p:cNvSpPr/>
          <p:nvPr/>
        </p:nvSpPr>
        <p:spPr>
          <a:xfrm>
            <a:off x="1028700" y="3429000"/>
            <a:ext cx="27432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Business intelligence and reporting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492E1647-7B4A-989C-A305-6E379EFC67A8}"/>
              </a:ext>
            </a:extLst>
          </p:cNvPr>
          <p:cNvSpPr/>
          <p:nvPr/>
        </p:nvSpPr>
        <p:spPr>
          <a:xfrm>
            <a:off x="1014186" y="3703320"/>
            <a:ext cx="27432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1212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7. Security &amp; Governance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B638F4AF-7B59-4D84-583F-18EEE8C3D25D}"/>
              </a:ext>
            </a:extLst>
          </p:cNvPr>
          <p:cNvSpPr/>
          <p:nvPr/>
        </p:nvSpPr>
        <p:spPr>
          <a:xfrm>
            <a:off x="1028700" y="3874770"/>
            <a:ext cx="27432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Access control and data protection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9112DE40-963C-5626-A951-D0D734A8E51D}"/>
              </a:ext>
            </a:extLst>
          </p:cNvPr>
          <p:cNvSpPr/>
          <p:nvPr/>
        </p:nvSpPr>
        <p:spPr>
          <a:xfrm>
            <a:off x="548640" y="4149090"/>
            <a:ext cx="414563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44F21454-40A1-1CA8-1303-0283242AB31B}"/>
              </a:ext>
            </a:extLst>
          </p:cNvPr>
          <p:cNvSpPr/>
          <p:nvPr/>
        </p:nvSpPr>
        <p:spPr>
          <a:xfrm>
            <a:off x="1028700" y="4149090"/>
            <a:ext cx="27432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212121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8. Results &amp; Benefits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D9C826C3-BE2C-7860-9D62-3100B79E7718}"/>
              </a:ext>
            </a:extLst>
          </p:cNvPr>
          <p:cNvSpPr/>
          <p:nvPr/>
        </p:nvSpPr>
        <p:spPr>
          <a:xfrm>
            <a:off x="1028700" y="4320540"/>
            <a:ext cx="2743200" cy="171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66666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Achievements and future enhancements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106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of Library Systems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31520" y="1668780"/>
            <a:ext cx="2377440" cy="1645920"/>
          </a:xfrm>
          <a:prstGeom prst="rect">
            <a:avLst/>
          </a:prstGeom>
          <a:solidFill>
            <a:srgbClr val="CADCFC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059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Lending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2174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57737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book checkouts and returns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654629"/>
            <a:ext cx="2377440" cy="1645920"/>
          </a:xfrm>
          <a:prstGeom prst="rect">
            <a:avLst/>
          </a:prstGeom>
          <a:solidFill>
            <a:srgbClr val="CADCFC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96343" y="183787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Resources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370217" y="229743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Files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E-book and journal downloads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08914" y="1707606"/>
            <a:ext cx="2377440" cy="1645920"/>
          </a:xfrm>
          <a:prstGeom prst="rect">
            <a:avLst/>
          </a:prstGeom>
          <a:solidFill>
            <a:srgbClr val="CADCFC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1865811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Booking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5040" y="23382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Exports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29260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room reservations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263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Pain Points: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0080" y="381072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Report generation takes 15+ hours monthly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166325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inconsistencies across systems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4509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historical trend analysis capability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845957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data entry errors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5852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Cannot answer critical business questions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Report turnaround time: 3+ weeks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423" y="685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Objectives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80423" y="662940"/>
            <a:ext cx="2011680" cy="13716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5845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17583" y="1637937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Integrated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83048" y="660038"/>
            <a:ext cx="2011680" cy="13716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074851" y="1097280"/>
            <a:ext cx="2011680" cy="457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15hr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051628" y="1524000"/>
            <a:ext cx="2011680" cy="2590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 Monthly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233852" y="681809"/>
            <a:ext cx="2011680" cy="13716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57075" y="76581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348513" y="1514475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Consistency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1875" y="2357437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Objectives: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3263" y="288725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7555" y="2802617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860357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Consolidate data from three heterogeneous sources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24099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251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222327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robust ETL pipeline with data quality management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14235" y="3555228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56112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dimensional model using Star Schema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905295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" y="4892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39213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OLAP operations (drill-down, roll-up, slicing, dicing)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4239352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5212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7337" y="4271265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interactive dashboards for different user roles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58503" y="4556760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0080" y="5532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0923" y="4511559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security measures and access controls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73017" y="4878614"/>
            <a:ext cx="274320" cy="2743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58503" y="4957717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0923" y="4854459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 scalability and backup/recovery capabilities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7554"/>
            <a:ext cx="8229600" cy="3338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1148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3-Tier Architecture with ETL Pipeline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36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Layer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57350"/>
            <a:ext cx="1828800" cy="1828800"/>
          </a:xfrm>
          <a:prstGeom prst="rect">
            <a:avLst/>
          </a:prstGeom>
          <a:solidFill>
            <a:srgbClr val="CADCFC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84023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System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Usage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Bookings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1046" y="2438763"/>
            <a:ext cx="731520" cy="36576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13030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ETL Layer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1707243"/>
            <a:ext cx="2194560" cy="1828800"/>
          </a:xfrm>
          <a:prstGeom prst="rect">
            <a:avLst/>
          </a:prstGeom>
          <a:solidFill>
            <a:srgbClr val="F0F8FF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23260" y="181737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27189" y="2474595"/>
            <a:ext cx="731520" cy="365760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1297305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Layer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377940" y="1571625"/>
            <a:ext cx="2103120" cy="1828800"/>
          </a:xfrm>
          <a:prstGeom prst="rect">
            <a:avLst/>
          </a:prstGeom>
          <a:solidFill>
            <a:srgbClr val="CADCFC"/>
          </a:solidFill>
          <a:ln w="254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0" y="1707243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 Schema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Fact Table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Dimensions</a:t>
            </a:r>
            <a:endParaRPr lang="en-US" sz="1100" dirty="0"/>
          </a:p>
          <a:p>
            <a:pPr marL="0" indent="0" algn="ctr">
              <a:buNone/>
            </a:pP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Database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71057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091940"/>
            <a:ext cx="13716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58800" y="40919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77440" y="4082052"/>
            <a:ext cx="13716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77440" y="418319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Dashboard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31920" y="4082052"/>
            <a:ext cx="13716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923211" y="418319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Dashboard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94962" y="4076337"/>
            <a:ext cx="13716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12229" y="4159431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58151" y="4094752"/>
            <a:ext cx="13716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75418" y="414074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&amp;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Model: Star Schema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Fact Table + 4 Dimension Tables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2743200"/>
            <a:ext cx="2743200" cy="1371600"/>
          </a:xfrm>
          <a:prstGeom prst="rect">
            <a:avLst/>
          </a:prstGeom>
          <a:solidFill>
            <a:srgbClr val="21295C"/>
          </a:solidFill>
          <a:ln w="381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0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FACT TABLE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library_usage_fact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00400" y="34747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quantity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duration_hours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645920"/>
            <a:ext cx="1828800" cy="1097280"/>
          </a:xfrm>
          <a:prstGeom prst="rect">
            <a:avLst/>
          </a:prstGeom>
          <a:solidFill>
            <a:srgbClr val="1C7293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dim_date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hierarchy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Year/Quarter/Month/Day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0" y="1645920"/>
            <a:ext cx="1828800" cy="1097280"/>
          </a:xfrm>
          <a:prstGeom prst="rect">
            <a:avLst/>
          </a:prstGeom>
          <a:solidFill>
            <a:srgbClr val="1C7293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17373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dim_student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92240" y="2103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info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Department/Type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2172" y="3589020"/>
            <a:ext cx="1828800" cy="1097280"/>
          </a:xfrm>
          <a:prstGeom prst="rect">
            <a:avLst/>
          </a:prstGeom>
          <a:solidFill>
            <a:srgbClr val="1C7293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2172" y="364671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dim_resource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2172" y="4023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Books/E-books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Journals/Articles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92240" y="3589020"/>
            <a:ext cx="1828800" cy="1097280"/>
          </a:xfrm>
          <a:prstGeom prst="rect">
            <a:avLst/>
          </a:prstGeom>
          <a:solidFill>
            <a:srgbClr val="1C7293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60457" y="3663587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dim_location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43040" y="4037783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rooms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Building/Floor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ETL Pipeline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Extract, Transform, Load Process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56032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3000" y="246888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from MySQL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788920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27889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Excel files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108960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43000" y="310896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CSV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429000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43000" y="342900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validation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749040"/>
            <a:ext cx="228600" cy="2286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143000" y="374904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logging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1828800"/>
            <a:ext cx="256032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566160" y="246888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86200" y="246888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dates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66160" y="278892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86200" y="27889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department names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66160" y="310896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886200" y="310896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duplicates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66160" y="342900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86200" y="342900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missing values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66160" y="3749040"/>
            <a:ext cx="228600" cy="2286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86200" y="374904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data types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1828800"/>
            <a:ext cx="2560320" cy="4572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LOAD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309360" y="2468880"/>
            <a:ext cx="228600" cy="2286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629400" y="246888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Populate dimensions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2788920"/>
            <a:ext cx="228600" cy="2286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29400" y="27889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fact table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3108960"/>
            <a:ext cx="228600" cy="2286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29400" y="310896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indexes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09360" y="3429000"/>
            <a:ext cx="228600" cy="2286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629400" y="342900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09360" y="3749040"/>
            <a:ext cx="228600" cy="22860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629400" y="374904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reports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37260" y="40919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Improvements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822960" y="4457700"/>
            <a:ext cx="7383780" cy="594360"/>
          </a:xfrm>
          <a:prstGeom prst="rect">
            <a:avLst/>
          </a:prstGeom>
          <a:solidFill>
            <a:srgbClr val="FFF8DC"/>
          </a:solidFill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30580" y="45491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ETL: 25% data quality issues (inconsistent names, missing values, duplicates)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ETL: 2% residual issues (only edge cases) | 92% improvement in data quality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Quality Results</a:t>
            </a:r>
            <a:endParaRPr lang="en-US" sz="4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40169"/>
              </p:ext>
            </p:extLst>
          </p:nvPr>
        </p:nvGraphicFramePr>
        <p:xfrm>
          <a:off x="457200" y="825681"/>
          <a:ext cx="7680960" cy="2743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Issue 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Before ETL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After ETL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Improvement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Inconsistent Departments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 variations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standard names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 reduction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 Format Issues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10+ formats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standard (ISO)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standardized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Values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 records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records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 resolved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 Records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 duplicates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duplicates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removed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Invalid Data Types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 errors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errors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97% corrected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90286" y="357613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Achievements: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29772" y="3941898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634 total records processed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29772" y="4158252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580 records successfully cleaned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80572" y="437460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92% overall data quality improvement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29772" y="4603206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Automated validation rules implemented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Intelligence &amp; Analytics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13+ SQL Queries Answering Critical Questions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13805" y="1449324"/>
            <a:ext cx="768096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7349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Reporting (5 queries)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10195" y="1888236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Monthly usage trends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0195" y="2107692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Department rankings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931" y="2313432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Peak usage times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47931" y="2500884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Popular resources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47931" y="2696174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Average loan duration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3805" y="3073690"/>
            <a:ext cx="768096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311941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OLAP Operations (5 queries)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79565" y="3594898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Drill-down (Year → Day)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9565" y="3757694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Roll-up (Day → Month)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9565" y="3904489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Slicing (Q1 2024)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79565" y="4038383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Dicing (Eng + Digital + March)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79565" y="4206568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Pivot analysis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3005" y="4474356"/>
            <a:ext cx="7680960" cy="365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3805" y="4487419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Analytics (3 queries)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6422" y="491098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Correlation analysis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026194" y="4908696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Trend forecasting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52537" y="490543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Anomaly detection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Interactive Dashboards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Dashboards for Different User Roles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6032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560320" cy="7315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Executive Dashboard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For: Library Directors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200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Total usage KPIs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474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Trend analysis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Department comparison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High-level metrics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828800"/>
            <a:ext cx="256032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91840" y="1828800"/>
            <a:ext cx="2560320" cy="7315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Department Dashboard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9184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For: Department Heads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3200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Department filter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3474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Usage over 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37490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Resource preferences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4023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Peer comparison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828800"/>
            <a:ext cx="2560320" cy="3657600"/>
          </a:xfrm>
          <a:prstGeom prst="rect">
            <a:avLst/>
          </a:prstGeom>
          <a:solidFill>
            <a:srgbClr val="FFFFFF"/>
          </a:solidFill>
          <a:ln w="381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35040" y="1828800"/>
            <a:ext cx="2560320" cy="73152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3504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Operational Dashboard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3504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For: Library Staff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17920" y="3200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Real-time activity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0" y="3474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Room availability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0" y="37490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Recent transactions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40233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Alert notifications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Governance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097280" y="1828800"/>
            <a:ext cx="2194560" cy="2286000"/>
          </a:xfrm>
          <a:prstGeom prst="rect">
            <a:avLst/>
          </a:prstGeom>
          <a:solidFill>
            <a:srgbClr val="CADCFC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9728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Control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(RBAC)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Admin - Full access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Analyst - Read-only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Dept Head - Department data only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828800"/>
            <a:ext cx="2194560" cy="2286000"/>
          </a:xfrm>
          <a:prstGeom prst="rect">
            <a:avLst/>
          </a:prstGeom>
          <a:solidFill>
            <a:srgbClr val="CADCFC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2651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Protection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&amp; Masking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 IDs masked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Sensitive fields protected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Audit trail logging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1828800"/>
            <a:ext cx="2194560" cy="2286000"/>
          </a:xfrm>
          <a:prstGeom prst="rect">
            <a:avLst/>
          </a:prstGeom>
          <a:solidFill>
            <a:srgbClr val="CADCFC"/>
          </a:solidFill>
          <a:ln w="254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52160" y="2103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852160" y="2651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&amp; Recovery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35040" y="301752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Protection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Weekly full backups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Daily incremental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30-day retention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4114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&amp; Best Practices: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5543" y="4617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GDPR-compliant data handling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5543" y="47777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Regular security audits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99943" y="4595223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Encrypted data transmission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87372" y="4622074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Comprehensive audit logging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87372" y="48234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Disaster recovery plan documented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99943" y="4837067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Regular penetration testing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543" y="1143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Benefits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48194" y="75057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9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463143" y="695869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After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86080" y="1180012"/>
            <a:ext cx="3291840" cy="548640"/>
          </a:xfrm>
          <a:prstGeom prst="rect">
            <a:avLst/>
          </a:prstGeom>
          <a:solidFill>
            <a:srgbClr val="FFE5E5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10606" y="13944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hours/month manual work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241608"/>
            <a:ext cx="3291840" cy="548640"/>
          </a:xfrm>
          <a:prstGeom prst="rect">
            <a:avLst/>
          </a:prstGeom>
          <a:solidFill>
            <a:srgbClr val="E5F5E5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06686" y="140453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&lt;30 minutes automated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337" y="1882594"/>
            <a:ext cx="3291840" cy="548640"/>
          </a:xfrm>
          <a:prstGeom prst="rect">
            <a:avLst/>
          </a:prstGeom>
          <a:solidFill>
            <a:srgbClr val="FFE5E5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7714" y="204597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weeks report turnaround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904547"/>
            <a:ext cx="3291840" cy="548640"/>
          </a:xfrm>
          <a:prstGeom prst="rect">
            <a:avLst/>
          </a:prstGeom>
          <a:solidFill>
            <a:srgbClr val="E5F5E5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06686" y="2067469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real-time access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3337" y="2535192"/>
            <a:ext cx="3291840" cy="548640"/>
          </a:xfrm>
          <a:prstGeom prst="rect">
            <a:avLst/>
          </a:prstGeom>
          <a:solidFill>
            <a:srgbClr val="FFE5E5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10606" y="26746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&amp; contradictory data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653211"/>
            <a:ext cx="3291840" cy="548640"/>
          </a:xfrm>
          <a:prstGeom prst="rect">
            <a:avLst/>
          </a:prstGeom>
          <a:solidFill>
            <a:srgbClr val="E5F5E5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54434" y="282275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data consistency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6080" y="3189876"/>
            <a:ext cx="3291840" cy="548640"/>
          </a:xfrm>
          <a:prstGeom prst="rect">
            <a:avLst/>
          </a:prstGeom>
          <a:solidFill>
            <a:srgbClr val="FFE5E5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0" y="3344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historical analysis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3295922"/>
            <a:ext cx="3291840" cy="548640"/>
          </a:xfrm>
          <a:prstGeom prst="rect">
            <a:avLst/>
          </a:prstGeom>
          <a:solidFill>
            <a:srgbClr val="E5F5E5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54434" y="3403419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trend analysis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6080" y="3852635"/>
            <a:ext cx="3291840" cy="548640"/>
          </a:xfrm>
          <a:prstGeom prst="rect">
            <a:avLst/>
          </a:prstGeom>
          <a:solidFill>
            <a:srgbClr val="FFE5E5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7160" y="401193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error-prone process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3918403"/>
            <a:ext cx="3291840" cy="548640"/>
          </a:xfrm>
          <a:prstGeom prst="rect">
            <a:avLst/>
          </a:prstGeom>
          <a:solidFill>
            <a:srgbClr val="E5F5E5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0" y="4023541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with validation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47874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00446" y="462915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Improved decision-making with real-time data  ✓ Better resource allocation  ✓ Enhanced student services  ✓ Cost savings through automation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00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Enhancements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31372" y="8001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for Continuous Improvement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211580"/>
            <a:ext cx="7680960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85371" y="12115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 (Q1 2026)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74879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Mobile app 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9431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Push notifications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0802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Offline dashboard access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05692" y="241173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 (Q2 2026)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72458" y="289179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Predictive analytics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72458" y="30861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Machine learning models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72458" y="3274695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Resource recommendation engine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577590"/>
            <a:ext cx="7680960" cy="4572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79863" y="357759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 (Q3 2026)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430911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Integration with LMS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7315" y="485775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 engagement scoring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Considerations: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85371" y="435483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migration for scalability  • API development for third-party integration  • Advanced visualization tools  • Natural language query interface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171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Lessons Learned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Lessons: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28171" y="15773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Data quality is critical - invest time in cleaning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8171" y="197739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Star schema simplifies queries significantly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2631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ETL testing prevents production issues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2686" y="25374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Incremental loads are better than full refreshes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8171" y="291465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Index optimization dramatically improves performance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143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Lessons: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15773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User feedback drives better dashboard design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Training is essential for adoption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42971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Start simple, add complexity gradually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42971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Document everything for maintenance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42971" y="286893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Security cannot be an afterthought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8171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Overcome: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1737" y="3794941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Handled 10+ different date formats across systems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1737" y="4091759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Resolved 35 variations of department naming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1737" y="4343581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Eliminated 127 duplicate records without data loss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4160" y="4549321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Implemented robust error handling for edge cases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Success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Data Warehousing Solution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371600" y="3200400"/>
            <a:ext cx="16459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7160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Systems Integrated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3200400"/>
            <a:ext cx="16459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0040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92%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Improved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0" y="3200400"/>
            <a:ext cx="16459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15hrs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Saved Monthly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3200400"/>
            <a:ext cx="164592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858000" y="3383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58000" y="3749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Instant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Turnaround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your attention!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5760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1086</Words>
  <Application>Microsoft Office PowerPoint</Application>
  <PresentationFormat>On-screen Show (16:9)</PresentationFormat>
  <Paragraphs>311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Arial Black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Library Analytics Data Warehouse</dc:title>
  <dc:subject>Academic Project Presentation</dc:subject>
  <dc:creator>Group 1</dc:creator>
  <cp:lastModifiedBy>CYPRIEN NZAYISENGA</cp:lastModifiedBy>
  <cp:revision>5</cp:revision>
  <dcterms:created xsi:type="dcterms:W3CDTF">2026-01-29T17:27:42Z</dcterms:created>
  <dcterms:modified xsi:type="dcterms:W3CDTF">2026-01-30T06:30:07Z</dcterms:modified>
</cp:coreProperties>
</file>