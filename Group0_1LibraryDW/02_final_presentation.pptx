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54" autoAdjust="0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3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3826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DEB19-D674-A89E-55DF-5C4B7914F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20C59-7BE5-6CE5-5D00-40F8C75DD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21016-AC22-678F-07B2-39A659186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3ED35-1DFE-4C8E-AB7B-30ADA7D40FAC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34696C-AF65-4124-481D-1373F229D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4BEBB-D2E9-BAE0-48D6-3787E2ADC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31CC9-6952-428F-979E-C773B8004C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956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364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Library Usage Data Warehouse Project </a:t>
            </a:r>
            <a:endParaRPr lang="en-US" sz="4800" dirty="0">
              <a:solidFill>
                <a:schemeClr val="accent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13360" y="350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ADCFC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Data Warehouse Project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Integrating Three Library Systems into One Analytics Platform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 | ITLDM801 | January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1EA2A-B47A-7406-06ED-1AC5818A0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524" y="53340"/>
            <a:ext cx="8846050" cy="5001546"/>
          </a:xfrm>
        </p:spPr>
        <p:txBody>
          <a:bodyPr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Presentation Agenda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ACE05090-1A97-BDB2-D2B4-863F68B59602}"/>
              </a:ext>
            </a:extLst>
          </p:cNvPr>
          <p:cNvSpPr/>
          <p:nvPr/>
        </p:nvSpPr>
        <p:spPr>
          <a:xfrm>
            <a:off x="342900" y="558658"/>
            <a:ext cx="6172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4EFAC3E-6475-C6F3-7D0B-0D472CE42D11}"/>
              </a:ext>
            </a:extLst>
          </p:cNvPr>
          <p:cNvSpPr/>
          <p:nvPr/>
        </p:nvSpPr>
        <p:spPr>
          <a:xfrm>
            <a:off x="548640" y="102870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C386034E-15DE-163E-47D0-B99BF3DAB0F1}"/>
              </a:ext>
            </a:extLst>
          </p:cNvPr>
          <p:cNvSpPr/>
          <p:nvPr/>
        </p:nvSpPr>
        <p:spPr>
          <a:xfrm>
            <a:off x="1028700" y="102870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1. Problem Statement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EBD8500-A275-49E5-6D23-BC34B34311CF}"/>
              </a:ext>
            </a:extLst>
          </p:cNvPr>
          <p:cNvSpPr/>
          <p:nvPr/>
        </p:nvSpPr>
        <p:spPr>
          <a:xfrm>
            <a:off x="1028700" y="120015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Current challenges in library operations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EC8CE0B-200A-8948-0D3A-82AF7A758C77}"/>
              </a:ext>
            </a:extLst>
          </p:cNvPr>
          <p:cNvSpPr/>
          <p:nvPr/>
        </p:nvSpPr>
        <p:spPr>
          <a:xfrm>
            <a:off x="548640" y="147447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803C79E-63B4-7941-B184-8DCBA8187C42}"/>
              </a:ext>
            </a:extLst>
          </p:cNvPr>
          <p:cNvSpPr/>
          <p:nvPr/>
        </p:nvSpPr>
        <p:spPr>
          <a:xfrm>
            <a:off x="1028700" y="147447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2. Project Objectives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4B3B960E-DC0E-42C0-CFAD-63A96A315B5B}"/>
              </a:ext>
            </a:extLst>
          </p:cNvPr>
          <p:cNvSpPr/>
          <p:nvPr/>
        </p:nvSpPr>
        <p:spPr>
          <a:xfrm>
            <a:off x="1028700" y="164592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Goals and expected outcomes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0BA9789D-496D-049E-CA5B-500EC15C491C}"/>
              </a:ext>
            </a:extLst>
          </p:cNvPr>
          <p:cNvSpPr/>
          <p:nvPr/>
        </p:nvSpPr>
        <p:spPr>
          <a:xfrm>
            <a:off x="483143" y="1920240"/>
            <a:ext cx="545557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C550B8E-3BA5-0535-FBD1-FC8A95E2EA30}"/>
              </a:ext>
            </a:extLst>
          </p:cNvPr>
          <p:cNvSpPr/>
          <p:nvPr/>
        </p:nvSpPr>
        <p:spPr>
          <a:xfrm>
            <a:off x="1028700" y="192024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3. System Architecture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77F6704-9155-98EC-0595-F64FDB70A35C}"/>
              </a:ext>
            </a:extLst>
          </p:cNvPr>
          <p:cNvSpPr/>
          <p:nvPr/>
        </p:nvSpPr>
        <p:spPr>
          <a:xfrm>
            <a:off x="1028700" y="209169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Technical design and components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091D8B25-3AD4-99E1-D573-B1DDDA722DAC}"/>
              </a:ext>
            </a:extLst>
          </p:cNvPr>
          <p:cNvSpPr/>
          <p:nvPr/>
        </p:nvSpPr>
        <p:spPr>
          <a:xfrm>
            <a:off x="548640" y="2366010"/>
            <a:ext cx="342900" cy="3428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B788E3D-E5FE-B49D-9162-63D73A2BC80F}"/>
              </a:ext>
            </a:extLst>
          </p:cNvPr>
          <p:cNvSpPr/>
          <p:nvPr/>
        </p:nvSpPr>
        <p:spPr>
          <a:xfrm>
            <a:off x="1028700" y="236601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4. Data Model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A5EFA2D-A222-4ADA-FD63-C41F73D9BA22}"/>
              </a:ext>
            </a:extLst>
          </p:cNvPr>
          <p:cNvSpPr/>
          <p:nvPr/>
        </p:nvSpPr>
        <p:spPr>
          <a:xfrm>
            <a:off x="1028700" y="253746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Star schema and dimensional modeling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FC1FE5B-5B94-3F93-78CD-FBDDDE86E3D6}"/>
              </a:ext>
            </a:extLst>
          </p:cNvPr>
          <p:cNvSpPr/>
          <p:nvPr/>
        </p:nvSpPr>
        <p:spPr>
          <a:xfrm>
            <a:off x="548640" y="281178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538C5A9-6EA0-7B9D-6E4B-A48DD411D383}"/>
              </a:ext>
            </a:extLst>
          </p:cNvPr>
          <p:cNvSpPr/>
          <p:nvPr/>
        </p:nvSpPr>
        <p:spPr>
          <a:xfrm>
            <a:off x="1028700" y="281178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5. ETL Pipeline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CE200099-E085-2855-EB9A-0D06FD351BD8}"/>
              </a:ext>
            </a:extLst>
          </p:cNvPr>
          <p:cNvSpPr/>
          <p:nvPr/>
        </p:nvSpPr>
        <p:spPr>
          <a:xfrm>
            <a:off x="1028700" y="298323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Data extraction, transformation, and loading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CC23329-8CD4-723D-2FF4-482D7CB9BF93}"/>
              </a:ext>
            </a:extLst>
          </p:cNvPr>
          <p:cNvSpPr/>
          <p:nvPr/>
        </p:nvSpPr>
        <p:spPr>
          <a:xfrm>
            <a:off x="548640" y="325755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06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1F40AE2-CDA1-81A2-7D53-7E349C728981}"/>
              </a:ext>
            </a:extLst>
          </p:cNvPr>
          <p:cNvSpPr/>
          <p:nvPr/>
        </p:nvSpPr>
        <p:spPr>
          <a:xfrm>
            <a:off x="1028700" y="325755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6. Analytics &amp; Insights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B698F58A-0DB3-89A1-4859-1160583F3C34}"/>
              </a:ext>
            </a:extLst>
          </p:cNvPr>
          <p:cNvSpPr/>
          <p:nvPr/>
        </p:nvSpPr>
        <p:spPr>
          <a:xfrm>
            <a:off x="1028700" y="342900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Business intelligence and reporting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492E1647-7B4A-989C-A305-6E379EFC67A8}"/>
              </a:ext>
            </a:extLst>
          </p:cNvPr>
          <p:cNvSpPr/>
          <p:nvPr/>
        </p:nvSpPr>
        <p:spPr>
          <a:xfrm>
            <a:off x="1014186" y="370332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7. Security &amp; Governance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B638F4AF-7B59-4D84-583F-18EEE8C3D25D}"/>
              </a:ext>
            </a:extLst>
          </p:cNvPr>
          <p:cNvSpPr/>
          <p:nvPr/>
        </p:nvSpPr>
        <p:spPr>
          <a:xfrm>
            <a:off x="1028700" y="387477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Access control and data protection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9112DE40-963C-5626-A951-D0D734A8E51D}"/>
              </a:ext>
            </a:extLst>
          </p:cNvPr>
          <p:cNvSpPr/>
          <p:nvPr/>
        </p:nvSpPr>
        <p:spPr>
          <a:xfrm>
            <a:off x="548640" y="414909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44F21454-40A1-1CA8-1303-0283242AB31B}"/>
              </a:ext>
            </a:extLst>
          </p:cNvPr>
          <p:cNvSpPr/>
          <p:nvPr/>
        </p:nvSpPr>
        <p:spPr>
          <a:xfrm>
            <a:off x="1028700" y="414909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8. Results &amp; Benefits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D9C826C3-BE2C-7860-9D62-3100B79E7718}"/>
              </a:ext>
            </a:extLst>
          </p:cNvPr>
          <p:cNvSpPr/>
          <p:nvPr/>
        </p:nvSpPr>
        <p:spPr>
          <a:xfrm>
            <a:off x="1028700" y="432054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Achievements and future enhancements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2106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 of Library Systems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1520" y="1668780"/>
            <a:ext cx="237744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059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Lending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174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57737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book checkouts and returns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654629"/>
            <a:ext cx="237744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96343" y="1837871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Resources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70217" y="22974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 and journal downloads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08914" y="1707606"/>
            <a:ext cx="237744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35040" y="1865811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Booking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35040" y="23382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Exports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room reservations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0263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Pain Points: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080" y="381072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Report generation takes 15+ hours monthly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166325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inconsistencies across systems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09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historical trend analysis capability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845957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Manual data entry errors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5852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Cannot answer critical business questions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Report turnaround time: 3+ weeks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423" y="685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Objectives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80423" y="662940"/>
            <a:ext cx="2011680" cy="13716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5845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17583" y="1637937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Integrated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83048" y="660038"/>
            <a:ext cx="2011680" cy="13716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74851" y="1097280"/>
            <a:ext cx="2011680" cy="45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15hr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051628" y="1524000"/>
            <a:ext cx="2011680" cy="2590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Monthly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33852" y="681809"/>
            <a:ext cx="2011680" cy="13716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57075" y="76581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348513" y="1514475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Consistency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1875" y="2357437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Objectives: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4235" y="2891857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7555" y="280261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860357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data from three heterogeneous sources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24099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251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222327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robust ETL pipeline with data quality management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4235" y="3555228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56112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dimensional model using Star Schema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905295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8920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2135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OLAP operations (drill-down, roll-up, slicing, dicing)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1201" y="4239352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5212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7337" y="4271265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interactive dashboards for different user roles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14235" y="45567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0080" y="5532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0923" y="4511559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security measures and access controls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1201" y="48479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58503" y="495771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0923" y="4854459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scalability and backup/recovery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7554"/>
            <a:ext cx="8229600" cy="3338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Architecture with ETL Pipeline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36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Layer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57350"/>
            <a:ext cx="1828800" cy="18288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840230"/>
            <a:ext cx="1645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System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Usage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Bookings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1046" y="2438763"/>
            <a:ext cx="731520" cy="36576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13030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1707243"/>
            <a:ext cx="2194560" cy="1828800"/>
          </a:xfrm>
          <a:prstGeom prst="rect">
            <a:avLst/>
          </a:prstGeom>
          <a:solidFill>
            <a:srgbClr val="F0F8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23260" y="181737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7189" y="2474595"/>
            <a:ext cx="731520" cy="36576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26480" y="1297305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Layer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77940" y="1571625"/>
            <a:ext cx="2103120" cy="1828800"/>
          </a:xfrm>
          <a:prstGeom prst="rect">
            <a:avLst/>
          </a:prstGeom>
          <a:solidFill>
            <a:srgbClr val="CADCFC"/>
          </a:solidFill>
          <a:ln w="254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1707243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Schema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Fact Table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Dimensions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Database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710577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Layer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091940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8800" y="40919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Dashboard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77440" y="4082052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77440" y="418319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Dashboard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31920" y="4082052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23211" y="418319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Dashboard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94962" y="4076337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12229" y="4159431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Queries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58151" y="4094752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75418" y="414074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Model: Star Schema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Fact Table + 4 Dimension Tables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2743200"/>
            <a:ext cx="2743200" cy="1371600"/>
          </a:xfrm>
          <a:prstGeom prst="rect">
            <a:avLst/>
          </a:prstGeom>
          <a:solidFill>
            <a:srgbClr val="21295C"/>
          </a:solidFill>
          <a:ln w="381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FACT TABLE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library_usage_fact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0" y="3474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duration_hours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6459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hierarchy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Year/Quarter/Month/Day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16459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dim_student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info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Department/Type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2172" y="35890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2172" y="364671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dim_resource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2172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Books/E-books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Journals/Articles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5890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60457" y="3663587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dim_location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43040" y="4037783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rooms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Building/Floor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ETL Pipeline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Extract, Transform, Load Process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56032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24688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from MySQL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278892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Excel files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10896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31089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CSV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42900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3000" y="342900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validation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43000" y="37490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logging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1828800"/>
            <a:ext cx="256032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TRANSFORM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566160" y="246888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86200" y="24688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dates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66160" y="278892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86200" y="278892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department names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310896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886200" y="31089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duplicates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66160" y="342900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86200" y="342900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missing values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886200" y="37490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data types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2560320" cy="4572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LOAD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309360" y="246888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29400" y="24688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Populate dimensions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09360" y="278892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29400" y="278892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fact table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0" y="310896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29400" y="31089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indexes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09360" y="342900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29400" y="342900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374904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29400" y="37490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reports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37260" y="40919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Improvements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822960" y="4457700"/>
            <a:ext cx="7383780" cy="594360"/>
          </a:xfrm>
          <a:prstGeom prst="rect">
            <a:avLst/>
          </a:prstGeom>
          <a:solidFill>
            <a:srgbClr val="FFF8D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30580" y="45491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ETL: 25% data quality issues (inconsistent names, missing values, duplicates)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ETL: 2% residual issues (only edge cases) | 92% improvement in data quality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Quality Results</a:t>
            </a:r>
            <a:endParaRPr lang="en-US" sz="4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40169"/>
              </p:ext>
            </p:extLst>
          </p:nvPr>
        </p:nvGraphicFramePr>
        <p:xfrm>
          <a:off x="457200" y="825681"/>
          <a:ext cx="7680960" cy="27432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ETL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ETL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Inconsistent Departments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variations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standard names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 reduction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 Format Issues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 formats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standard (ISO)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standardized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 resolved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 duplicates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duplicates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removed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Invalid Data Types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 corrected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290286" y="357613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Achievements: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9772" y="3941898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634 total records processed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29772" y="415825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580 records successfully cleaned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80572" y="4374606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92% overall data quality improvement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9772" y="4603206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Automated validation rules implemented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Intelligence &amp; Analytics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13+ SQL Queries Answering Critical Questions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13805" y="1449324"/>
            <a:ext cx="76809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47349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Reporting (5 queries)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10195" y="1888236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Monthly usage trends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0195" y="2107692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Department rankings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7931" y="2313432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Peak usage times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7931" y="2500884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Popular resources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47931" y="2696174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Average loan duration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3805" y="3073690"/>
            <a:ext cx="76809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11941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OLAP Operations (5 queries)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79565" y="3594898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Drill-down (Year → Day)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9565" y="3757694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Roll-up (Day → Month)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79565" y="3904489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Slicing (Q1 2024)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9565" y="4038383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Dicing (Eng + Digital + March)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9565" y="4206568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Pivot analysis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3005" y="4474356"/>
            <a:ext cx="76809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3805" y="44874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Analytics (3 queries)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26422" y="491098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Correlation analysis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26194" y="4908696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Trend forecasting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52537" y="490543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Anomaly detection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Interactive Dashboards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Dashboards for Different User Roles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56032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For: Library Directors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Total usage KPIs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Trend analysis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Department comparison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High-level metrics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828800"/>
            <a:ext cx="256032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91840" y="1828800"/>
            <a:ext cx="2560320" cy="7315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918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Department Dashboard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For: Department Heads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74720" y="3200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Department filter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3474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Usage over 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74720" y="3749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Resource preferences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74720" y="40233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Peer comparison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1828800"/>
            <a:ext cx="256032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35040" y="1828800"/>
            <a:ext cx="2560320" cy="7315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350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Operational Dashboard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0350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For: Library Staff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200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Real-time activity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3474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Room availability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3749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Recent transactions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40233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Alert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&amp; Governance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2194560" cy="22860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30175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- Full access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Analyst - Read-only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Dept Head - Department data only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828800"/>
            <a:ext cx="2194560" cy="22860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Protection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0175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&amp; Masking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 IDs masked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Sensitive fields protected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 trail logging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828800"/>
            <a:ext cx="2194560" cy="22860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5216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852160" y="2651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&amp; Recovery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35040" y="30175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Protection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full backups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incremental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30-day retention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4114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Best Practices: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05543" y="4617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GDPR-compliant data handling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5543" y="47777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Regular security audits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99943" y="4595223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Encrypted data transmission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87372" y="462207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Comprehensive audit logging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87372" y="48234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Disaster recovery plan documented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99943" y="4837067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Regular penetration testing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1543" y="1143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&amp; Benefits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48194" y="75057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463143" y="695869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86080" y="1180012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10606" y="13944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15+ hours/month manual work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241608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06686" y="140453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 minutes automated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3337" y="1882594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7714" y="204597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weeks report turnaround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904547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06686" y="206746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real-time access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93337" y="2535192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0606" y="26746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 &amp; contradictory 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3211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54434" y="28227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data consistency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6080" y="3189876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0" y="33440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historical analysis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295922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54434" y="340341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trend analysis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6080" y="3852635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37160" y="401193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error-prone process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918403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0" y="4023541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with validation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7874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00446" y="462915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Improved decision-making with real-time data  ✓ Better resource allocation  ✓ Enhanced student services  ✓ Cost savings through automation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00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Enhancements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31372" y="8001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for Continuous Improvement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211580"/>
            <a:ext cx="768096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5371" y="12115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 (Q1 2026)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74879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 app development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9431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Push notifications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0802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Offline dashboard access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692" y="241173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 (Q2 2026)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2458" y="289179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Predictive analytics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2458" y="30861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Machine learning models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2458" y="3274695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Resource recommendation engine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577590"/>
            <a:ext cx="7680960" cy="4572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863" y="357759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 (Q3 2026)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30911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Integration with LMS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315" y="485775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 engagement scoring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Considerations: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5371" y="435483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migration for scalability  • API development for third-party integration  • Advanced visualization tools  • Natural language query interface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171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Lessons Learned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Lessons: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28171" y="15773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Data quality is critical - invest time in cleaning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28171" y="197739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Star schema simplifies queries significantly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2631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ETL testing prevents production issues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2686" y="25374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Incremental loads are better than full refreshes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171" y="291465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Index optimization dramatically improves performance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143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Lessons: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5773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User feedback drives better dashboard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Training is essential for adoption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2971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Start simple, add complexity gradually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2971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Document everything for maintenance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42971" y="286893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Security cannot be an afterthought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8171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Overcome: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1737" y="3794941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Handled 10+ different date formats across systems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1737" y="4091759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Resolved 35 variations of department naming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1737" y="4343581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Eliminated 127 duplicate records without data loss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4160" y="4549321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robust error handling for edge cases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Success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Data Warehousing Solution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3716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Systems Integrated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004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004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Improved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0292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15hrs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0292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Monthly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580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Instant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Turnaround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5303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attention!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1086</Words>
  <Application>Microsoft Office PowerPoint</Application>
  <PresentationFormat>On-screen Show (16:9)</PresentationFormat>
  <Paragraphs>311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Arial Black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Library Analytics Data Warehouse</dc:title>
  <dc:subject>Academic Project Presentation</dc:subject>
  <dc:creator>Group 1</dc:creator>
  <cp:lastModifiedBy>CYPRIEN NZAYISENGA</cp:lastModifiedBy>
  <cp:revision>6</cp:revision>
  <dcterms:created xsi:type="dcterms:W3CDTF">2026-01-29T17:27:42Z</dcterms:created>
  <dcterms:modified xsi:type="dcterms:W3CDTF">2026-01-30T07:40:15Z</dcterms:modified>
</cp:coreProperties>
</file>